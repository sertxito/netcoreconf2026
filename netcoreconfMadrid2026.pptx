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2" r:id="rId2"/>
  </p:sldMasterIdLst>
  <p:notesMasterIdLst>
    <p:notesMasterId r:id="rId47"/>
  </p:notesMasterIdLst>
  <p:sldIdLst>
    <p:sldId id="256" r:id="rId3"/>
    <p:sldId id="2147471681" r:id="rId4"/>
    <p:sldId id="2147471642" r:id="rId5"/>
    <p:sldId id="2147471641" r:id="rId6"/>
    <p:sldId id="292" r:id="rId7"/>
    <p:sldId id="2147471665" r:id="rId8"/>
    <p:sldId id="2147471643" r:id="rId9"/>
    <p:sldId id="2147471675" r:id="rId10"/>
    <p:sldId id="291" r:id="rId11"/>
    <p:sldId id="287" r:id="rId12"/>
    <p:sldId id="2147471647" r:id="rId13"/>
    <p:sldId id="2147471664" r:id="rId14"/>
    <p:sldId id="2147471677" r:id="rId15"/>
    <p:sldId id="289" r:id="rId16"/>
    <p:sldId id="288" r:id="rId17"/>
    <p:sldId id="285" r:id="rId18"/>
    <p:sldId id="2147471669" r:id="rId19"/>
    <p:sldId id="2147471670" r:id="rId20"/>
    <p:sldId id="2147471655" r:id="rId21"/>
    <p:sldId id="2147471646" r:id="rId22"/>
    <p:sldId id="283" r:id="rId23"/>
    <p:sldId id="281" r:id="rId24"/>
    <p:sldId id="280" r:id="rId25"/>
    <p:sldId id="279" r:id="rId26"/>
    <p:sldId id="278" r:id="rId27"/>
    <p:sldId id="2147471663" r:id="rId28"/>
    <p:sldId id="2147471671" r:id="rId29"/>
    <p:sldId id="277" r:id="rId30"/>
    <p:sldId id="275" r:id="rId31"/>
    <p:sldId id="2147471656" r:id="rId32"/>
    <p:sldId id="2147471645" r:id="rId33"/>
    <p:sldId id="2147471662" r:id="rId34"/>
    <p:sldId id="2147471673" r:id="rId35"/>
    <p:sldId id="273" r:id="rId36"/>
    <p:sldId id="2147471678" r:id="rId37"/>
    <p:sldId id="2147471644" r:id="rId38"/>
    <p:sldId id="2147471661" r:id="rId39"/>
    <p:sldId id="272" r:id="rId40"/>
    <p:sldId id="268" r:id="rId41"/>
    <p:sldId id="2147471680" r:id="rId42"/>
    <p:sldId id="266" r:id="rId43"/>
    <p:sldId id="265" r:id="rId44"/>
    <p:sldId id="257" r:id="rId45"/>
    <p:sldId id="262" r:id="rId46"/>
  </p:sldIdLst>
  <p:sldSz cx="18288000" cy="10287000"/>
  <p:notesSz cx="6858000" cy="9144000"/>
  <p:embeddedFontLst>
    <p:embeddedFont>
      <p:font typeface="Consolas" panose="020B0609020204030204" pitchFamily="49" charset="0"/>
      <p:regular r:id="rId48"/>
      <p:bold r:id="rId49"/>
      <p:italic r:id="rId50"/>
      <p:boldItalic r:id="rId51"/>
    </p:embeddedFont>
    <p:embeddedFont>
      <p:font typeface="Open Sans" panose="020B0606030504020204" pitchFamily="34" charset="0"/>
      <p:regular r:id="rId52"/>
      <p:bold r:id="rId53"/>
      <p:italic r:id="rId54"/>
      <p:boldItalic r:id="rId55"/>
    </p:embeddedFont>
    <p:embeddedFont>
      <p:font typeface="Play" panose="020B0604020202020204" charset="0"/>
      <p:regular r:id="rId56"/>
      <p:bold r:id="rId57"/>
    </p:embeddedFont>
    <p:embeddedFont>
      <p:font typeface="Poppins" panose="00000500000000000000" pitchFamily="2" charset="0"/>
      <p:regular r:id="rId58"/>
      <p:bold r:id="rId59"/>
      <p:italic r:id="rId60"/>
      <p:boldItalic r:id="rId6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Presentación" id="{693C21F7-3D76-4D6A-8F60-59F840375108}">
          <p14:sldIdLst>
            <p14:sldId id="256"/>
            <p14:sldId id="2147471681"/>
            <p14:sldId id="2147471642"/>
            <p14:sldId id="2147471641"/>
            <p14:sldId id="292"/>
          </p14:sldIdLst>
        </p14:section>
        <p14:section name="Api REST" id="{711E44E3-EE0C-4BF0-A52B-F6AA202D5257}">
          <p14:sldIdLst>
            <p14:sldId id="2147471665"/>
            <p14:sldId id="2147471643"/>
            <p14:sldId id="2147471675"/>
            <p14:sldId id="291"/>
            <p14:sldId id="287"/>
            <p14:sldId id="2147471647"/>
          </p14:sldIdLst>
        </p14:section>
        <p14:section name="API consumida por agentes" id="{7EE826B9-4186-442F-A462-5AECEF00EA89}">
          <p14:sldIdLst>
            <p14:sldId id="2147471664"/>
            <p14:sldId id="2147471677"/>
            <p14:sldId id="289"/>
            <p14:sldId id="288"/>
            <p14:sldId id="285"/>
            <p14:sldId id="2147471669"/>
            <p14:sldId id="2147471670"/>
            <p14:sldId id="2147471655"/>
            <p14:sldId id="2147471646"/>
            <p14:sldId id="283"/>
            <p14:sldId id="281"/>
          </p14:sldIdLst>
        </p14:section>
        <p14:section name="Api con MCP" id="{DB81021C-D19A-4329-BAE3-C073B15799F7}">
          <p14:sldIdLst>
            <p14:sldId id="280"/>
            <p14:sldId id="279"/>
            <p14:sldId id="278"/>
            <p14:sldId id="2147471663"/>
            <p14:sldId id="2147471671"/>
            <p14:sldId id="277"/>
            <p14:sldId id="275"/>
            <p14:sldId id="2147471656"/>
            <p14:sldId id="2147471645"/>
          </p14:sldIdLst>
        </p14:section>
        <p14:section name="Telemetría con Aspire" id="{B6431A93-75B3-49FE-A9AA-14CA9E6A7488}">
          <p14:sldIdLst>
            <p14:sldId id="2147471662"/>
            <p14:sldId id="2147471673"/>
            <p14:sldId id="273"/>
            <p14:sldId id="2147471678"/>
            <p14:sldId id="2147471644"/>
          </p14:sldIdLst>
        </p14:section>
        <p14:section name="Conclusiones" id="{8EFBA62B-9FE4-4F13-BB37-AB7D5BAAD430}">
          <p14:sldIdLst>
            <p14:sldId id="2147471661"/>
            <p14:sldId id="272"/>
            <p14:sldId id="268"/>
            <p14:sldId id="2147471680"/>
            <p14:sldId id="266"/>
          </p14:sldIdLst>
        </p14:section>
        <p14:section name="Preguntas" id="{C989B825-3010-4FB4-9760-EF1E13066DB2}">
          <p14:sldIdLst>
            <p14:sldId id="265"/>
            <p14:sldId id="257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635" autoAdjust="0"/>
  </p:normalViewPr>
  <p:slideViewPr>
    <p:cSldViewPr snapToGrid="0">
      <p:cViewPr varScale="1">
        <p:scale>
          <a:sx n="31" d="100"/>
          <a:sy n="31" d="100"/>
        </p:scale>
        <p:origin x="456" y="10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openxmlformats.org/officeDocument/2006/relationships/font" Target="fonts/font8.fntdata"/><Relationship Id="rId63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font" Target="fonts/font6.fntdata"/><Relationship Id="rId58" Type="http://schemas.openxmlformats.org/officeDocument/2006/relationships/font" Target="fonts/font11.fntdata"/><Relationship Id="rId5" Type="http://schemas.openxmlformats.org/officeDocument/2006/relationships/slide" Target="slides/slide3.xml"/><Relationship Id="rId61" Type="http://schemas.openxmlformats.org/officeDocument/2006/relationships/font" Target="fonts/font14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font" Target="fonts/font1.fntdata"/><Relationship Id="rId56" Type="http://schemas.openxmlformats.org/officeDocument/2006/relationships/font" Target="fonts/font9.fntdata"/><Relationship Id="rId64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font" Target="fonts/font4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12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7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2.fntdata"/><Relationship Id="rId57" Type="http://schemas.openxmlformats.org/officeDocument/2006/relationships/font" Target="fonts/font10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font" Target="fonts/font5.fntdata"/><Relationship Id="rId60" Type="http://schemas.openxmlformats.org/officeDocument/2006/relationships/font" Target="fonts/font13.fntdata"/><Relationship Id="rId65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7391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s-ES"/>
          </a:p>
        </p:txBody>
      </p:sp>
      <p:sp>
        <p:nvSpPr>
          <p:cNvPr id="158" name="Google Shape;15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s-ES"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4289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06951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04137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82231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s-ES"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En blanc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Título y objeto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Encabezado de secció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3600"/>
              <a:buNone/>
              <a:defRPr sz="36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3000"/>
              <a:buNone/>
              <a:defRPr sz="3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700"/>
              <a:buNone/>
              <a:defRPr sz="27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9258300" y="2738438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/>
            </a:lvl1pPr>
            <a:lvl2pPr marL="914400" lvl="1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/>
            </a:lvl2pPr>
            <a:lvl3pPr marL="1371600" lvl="2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/>
            </a:lvl3pPr>
            <a:lvl4pPr marL="1828800" lvl="3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4pPr>
            <a:lvl5pPr marL="2286000" lvl="4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5pPr>
            <a:lvl6pPr marL="2743200" lvl="5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6pPr>
            <a:lvl7pPr marL="3200400" lvl="6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7pPr>
            <a:lvl8pPr marL="3657600" lvl="7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8pPr>
            <a:lvl9pPr marL="4114800" lvl="8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1259683" y="3757613"/>
            <a:ext cx="7736681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9258300" y="2521745"/>
            <a:ext cx="7774782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/>
            </a:lvl1pPr>
            <a:lvl2pPr marL="914400" lvl="1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/>
            </a:lvl2pPr>
            <a:lvl3pPr marL="1371600" lvl="2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/>
            </a:lvl3pPr>
            <a:lvl4pPr marL="1828800" lvl="3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4pPr>
            <a:lvl5pPr marL="2286000" lvl="4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5pPr>
            <a:lvl6pPr marL="2743200" lvl="5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6pPr>
            <a:lvl7pPr marL="3200400" lvl="6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7pPr>
            <a:lvl8pPr marL="3657600" lvl="7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8pPr>
            <a:lvl9pPr marL="4114800" lvl="8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9258300" y="3757613"/>
            <a:ext cx="7774782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Solo el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Contenido con título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7774782" y="1481138"/>
            <a:ext cx="9258300" cy="731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33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1pPr>
            <a:lvl2pPr marL="914400" lvl="1" indent="-4953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2pPr>
            <a:lvl3pPr marL="1371600" lvl="2" indent="-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3pPr>
            <a:lvl4pPr marL="1828800" lvl="3" indent="-4191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4pPr>
            <a:lvl5pPr marL="2286000" lvl="4" indent="-4191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5pPr>
            <a:lvl6pPr marL="2743200" lvl="5" indent="-4191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6pPr>
            <a:lvl7pPr marL="3200400" lvl="6" indent="-4191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7pPr>
            <a:lvl8pPr marL="3657600" lvl="7" indent="-4191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8pPr>
            <a:lvl9pPr marL="4114800" lvl="8" indent="-4191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1259683" y="3086100"/>
            <a:ext cx="5898356" cy="571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marL="1371600" lvl="2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7pPr>
            <a:lvl8pPr marL="3657600" lvl="7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marL="4114800" lvl="8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7774782" y="1481138"/>
            <a:ext cx="9258300" cy="7310438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259683" y="3086100"/>
            <a:ext cx="5898356" cy="571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marL="1371600" lvl="2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7pPr>
            <a:lvl8pPr marL="3657600" lvl="7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marL="4114800" lvl="8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5880497" y="-1884758"/>
            <a:ext cx="6527007" cy="157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Título vertical y texto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10700147" y="2934892"/>
            <a:ext cx="8717757" cy="394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2699146" y="-894158"/>
            <a:ext cx="8717757" cy="1160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18003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En blanc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0980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9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35668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Título y objeto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08216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Encabezado de secció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9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3600"/>
              <a:buNone/>
              <a:defRPr sz="36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3000"/>
              <a:buNone/>
              <a:defRPr sz="3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700"/>
              <a:buNone/>
              <a:defRPr sz="27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14148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9258300" y="2738438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31283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/>
            </a:lvl1pPr>
            <a:lvl2pPr marL="914400" lvl="1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/>
            </a:lvl2pPr>
            <a:lvl3pPr marL="1371600" lvl="2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/>
            </a:lvl3pPr>
            <a:lvl4pPr marL="1828800" lvl="3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4pPr>
            <a:lvl5pPr marL="2286000" lvl="4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5pPr>
            <a:lvl6pPr marL="2743200" lvl="5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6pPr>
            <a:lvl7pPr marL="3200400" lvl="6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7pPr>
            <a:lvl8pPr marL="3657600" lvl="7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8pPr>
            <a:lvl9pPr marL="4114800" lvl="8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1259683" y="3757613"/>
            <a:ext cx="7736681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9258300" y="2521745"/>
            <a:ext cx="7774782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/>
            </a:lvl1pPr>
            <a:lvl2pPr marL="914400" lvl="1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/>
            </a:lvl2pPr>
            <a:lvl3pPr marL="1371600" lvl="2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/>
            </a:lvl3pPr>
            <a:lvl4pPr marL="1828800" lvl="3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4pPr>
            <a:lvl5pPr marL="2286000" lvl="4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5pPr>
            <a:lvl6pPr marL="2743200" lvl="5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6pPr>
            <a:lvl7pPr marL="3200400" lvl="6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7pPr>
            <a:lvl8pPr marL="3657600" lvl="7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8pPr>
            <a:lvl9pPr marL="4114800" lvl="8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9258300" y="3757613"/>
            <a:ext cx="7774782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43617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Solo el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6307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Contenido con título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7774782" y="1481138"/>
            <a:ext cx="9258300" cy="731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33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1pPr>
            <a:lvl2pPr marL="914400" lvl="1" indent="-4953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2pPr>
            <a:lvl3pPr marL="1371600" lvl="2" indent="-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3pPr>
            <a:lvl4pPr marL="1828800" lvl="3" indent="-4191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4pPr>
            <a:lvl5pPr marL="2286000" lvl="4" indent="-4191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5pPr>
            <a:lvl6pPr marL="2743200" lvl="5" indent="-4191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6pPr>
            <a:lvl7pPr marL="3200400" lvl="6" indent="-4191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7pPr>
            <a:lvl8pPr marL="3657600" lvl="7" indent="-4191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8pPr>
            <a:lvl9pPr marL="4114800" lvl="8" indent="-4191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1259683" y="3086100"/>
            <a:ext cx="5898356" cy="571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marL="1371600" lvl="2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7pPr>
            <a:lvl8pPr marL="3657600" lvl="7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marL="4114800" lvl="8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08477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7774782" y="1481138"/>
            <a:ext cx="9258300" cy="7310438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1259683" y="3086100"/>
            <a:ext cx="5898356" cy="571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marL="1371600" lvl="2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7pPr>
            <a:lvl8pPr marL="3657600" lvl="7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marL="4114800" lvl="8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540098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5880497" y="-1884758"/>
            <a:ext cx="6527007" cy="157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03312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Título vertical y texto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10700147" y="2934892"/>
            <a:ext cx="8717757" cy="394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2699146" y="-894158"/>
            <a:ext cx="8717757" cy="1160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8916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sz="6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53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7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sz="6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53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5240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11" Type="http://schemas.openxmlformats.org/officeDocument/2006/relationships/image" Target="../media/image10.png"/><Relationship Id="rId5" Type="http://schemas.openxmlformats.org/officeDocument/2006/relationships/image" Target="../media/image3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15.jpe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9.png"/><Relationship Id="rId5" Type="http://schemas.openxmlformats.org/officeDocument/2006/relationships/image" Target="../media/image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dotnet/ai/get-started-mcp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devblogs.microsoft.com/dotnet/announcing-v20-of-the-official-mcp-csharp-sdk/" TargetMode="External"/><Relationship Id="rId12" Type="http://schemas.openxmlformats.org/officeDocument/2006/relationships/hyperlink" Target="https://learn.microsoft.com/en-us/dotnet/ai/dotnet-ai-ecosystem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hyperlink" Target="https://aspire.dev/whats-new/aspire-13-1/" TargetMode="External"/><Relationship Id="rId5" Type="http://schemas.openxmlformats.org/officeDocument/2006/relationships/image" Target="../media/image3.png"/><Relationship Id="rId10" Type="http://schemas.openxmlformats.org/officeDocument/2006/relationships/hyperlink" Target="https://learn.microsoft.com/en-us/agent-framework/hosting/self-hosting/?pivots=programming-language-csharp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learn.microsoft.com/en-us/aspnet/core/release-notes/aspnetcore-10.0?view=aspnetcore-10.0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11" Type="http://schemas.openxmlformats.org/officeDocument/2006/relationships/image" Target="../media/image10.png"/><Relationship Id="rId5" Type="http://schemas.openxmlformats.org/officeDocument/2006/relationships/image" Target="../media/image3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/>
          <p:nvPr/>
        </p:nvSpPr>
        <p:spPr>
          <a:xfrm rot="-9507860">
            <a:off x="8421624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5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5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5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" name="Google Shape;164;p25"/>
          <p:cNvCxnSpPr/>
          <p:nvPr/>
        </p:nvCxnSpPr>
        <p:spPr>
          <a:xfrm>
            <a:off x="3621024" y="1033271"/>
            <a:ext cx="1104595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" name="Google Shape;165;p25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" name="Google Shape;166;p25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" name="Google Shape;167;p25"/>
          <p:cNvSpPr/>
          <p:nvPr/>
        </p:nvSpPr>
        <p:spPr>
          <a:xfrm>
            <a:off x="210312" y="-3017520"/>
            <a:ext cx="9116568" cy="14950440"/>
          </a:xfrm>
          <a:custGeom>
            <a:avLst/>
            <a:gdLst/>
            <a:ahLst/>
            <a:cxnLst/>
            <a:rect l="l" t="t" r="r" b="b"/>
            <a:pathLst>
              <a:path w="3912870" h="6419850" extrusionOk="0">
                <a:moveTo>
                  <a:pt x="2343150" y="797560"/>
                </a:moveTo>
                <a:lnTo>
                  <a:pt x="3912870" y="156210"/>
                </a:lnTo>
                <a:lnTo>
                  <a:pt x="3912870" y="1327150"/>
                </a:lnTo>
                <a:lnTo>
                  <a:pt x="2627630" y="2366010"/>
                </a:lnTo>
                <a:lnTo>
                  <a:pt x="3912870" y="1991360"/>
                </a:lnTo>
                <a:lnTo>
                  <a:pt x="3912870" y="3162300"/>
                </a:lnTo>
                <a:lnTo>
                  <a:pt x="1640840" y="4832350"/>
                </a:lnTo>
                <a:cubicBezTo>
                  <a:pt x="2366010" y="4615180"/>
                  <a:pt x="3065780" y="4183380"/>
                  <a:pt x="3740150" y="3520440"/>
                </a:cubicBezTo>
                <a:lnTo>
                  <a:pt x="3740150" y="4874260"/>
                </a:lnTo>
                <a:cubicBezTo>
                  <a:pt x="2578100" y="5966460"/>
                  <a:pt x="1375410" y="6419850"/>
                  <a:pt x="139700" y="6341110"/>
                </a:cubicBezTo>
                <a:lnTo>
                  <a:pt x="139700" y="4765040"/>
                </a:lnTo>
                <a:lnTo>
                  <a:pt x="1276350" y="3929380"/>
                </a:lnTo>
                <a:lnTo>
                  <a:pt x="363220" y="4194810"/>
                </a:lnTo>
                <a:lnTo>
                  <a:pt x="363220" y="3023870"/>
                </a:lnTo>
                <a:lnTo>
                  <a:pt x="980440" y="2524760"/>
                </a:lnTo>
                <a:lnTo>
                  <a:pt x="34290" y="2912110"/>
                </a:lnTo>
                <a:lnTo>
                  <a:pt x="34290" y="1741170"/>
                </a:lnTo>
                <a:lnTo>
                  <a:pt x="595630" y="1356360"/>
                </a:lnTo>
                <a:cubicBezTo>
                  <a:pt x="393700" y="1343660"/>
                  <a:pt x="194310" y="1309370"/>
                  <a:pt x="0" y="1256030"/>
                </a:cubicBezTo>
                <a:lnTo>
                  <a:pt x="0" y="414020"/>
                </a:lnTo>
                <a:cubicBezTo>
                  <a:pt x="825500" y="652780"/>
                  <a:pt x="1609090" y="534670"/>
                  <a:pt x="2343150" y="0"/>
                </a:cubicBezTo>
                <a:lnTo>
                  <a:pt x="2343150" y="79756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l="-31140" r="-3114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5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169" name="Google Shape;169;p25"/>
          <p:cNvSpPr txBox="1"/>
          <p:nvPr/>
        </p:nvSpPr>
        <p:spPr>
          <a:xfrm>
            <a:off x="14895576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 dirty="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 dirty="0"/>
          </a:p>
        </p:txBody>
      </p:sp>
      <p:sp>
        <p:nvSpPr>
          <p:cNvPr id="170" name="TextBox 169"/>
          <p:cNvSpPr txBox="1"/>
          <p:nvPr/>
        </p:nvSpPr>
        <p:spPr>
          <a:xfrm>
            <a:off x="9875520" y="3566160"/>
            <a:ext cx="768096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000" b="1" dirty="0">
                <a:solidFill>
                  <a:srgbClr val="FFFFFF"/>
                </a:solidFill>
                <a:latin typeface="Poppins"/>
              </a:rPr>
              <a:t>Tu API </a:t>
            </a:r>
            <a:r>
              <a:rPr sz="5000" b="1" dirty="0" err="1">
                <a:solidFill>
                  <a:srgbClr val="FFFFFF"/>
                </a:solidFill>
                <a:latin typeface="Poppins"/>
              </a:rPr>
              <a:t>ya</a:t>
            </a:r>
            <a:r>
              <a:rPr sz="5000" b="1" dirty="0">
                <a:solidFill>
                  <a:srgbClr val="FFFFFF"/>
                </a:solidFill>
                <a:latin typeface="Poppins"/>
              </a:rPr>
              <a:t> no la van
a </a:t>
            </a:r>
            <a:r>
              <a:rPr sz="5000" b="1" dirty="0" err="1">
                <a:solidFill>
                  <a:srgbClr val="FFFFFF"/>
                </a:solidFill>
                <a:latin typeface="Poppins"/>
              </a:rPr>
              <a:t>consumir</a:t>
            </a:r>
            <a:r>
              <a:rPr sz="5000" b="1" dirty="0">
                <a:solidFill>
                  <a:srgbClr val="FFFFFF"/>
                </a:solidFill>
                <a:latin typeface="Poppins"/>
              </a:rPr>
              <a:t> personas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9875520" y="6217920"/>
            <a:ext cx="76809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E8C9FF"/>
                </a:solidFill>
                <a:latin typeface="Poppins"/>
              </a:rPr>
              <a:t>Una API ASP.NET Core 10 evolucionando
hacia un mundo con agentes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875520" y="7680960"/>
            <a:ext cx="768096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dirty="0">
                <a:solidFill>
                  <a:srgbClr val="FF4D9D"/>
                </a:solidFill>
                <a:latin typeface="Poppins"/>
              </a:rPr>
              <a:t>Sergio Hierro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 rot="-9507860">
            <a:off x="8420533" y="-4243551"/>
            <a:ext cx="10764274" cy="10544503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-3925495" y="5622260"/>
            <a:ext cx="10031001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 rot="4413099" flipH="1">
            <a:off x="10760248" y="1572496"/>
            <a:ext cx="11741660" cy="8761288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/>
          <p:nvPr/>
        </p:nvSpPr>
        <p:spPr>
          <a:xfrm flipH="1">
            <a:off x="0" y="-400219"/>
            <a:ext cx="9326019" cy="7037809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" name="Google Shape;102;p2"/>
          <p:cNvCxnSpPr/>
          <p:nvPr/>
        </p:nvCxnSpPr>
        <p:spPr>
          <a:xfrm>
            <a:off x="700612" y="1472360"/>
            <a:ext cx="12385528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3" name="Google Shape;103;p2"/>
          <p:cNvGrpSpPr/>
          <p:nvPr/>
        </p:nvGrpSpPr>
        <p:grpSpPr>
          <a:xfrm>
            <a:off x="12986370" y="762000"/>
            <a:ext cx="4601018" cy="1420720"/>
            <a:chOff x="0" y="0"/>
            <a:chExt cx="6134691" cy="1894293"/>
          </a:xfrm>
        </p:grpSpPr>
        <p:sp>
          <p:nvSpPr>
            <p:cNvPr id="104" name="Google Shape;104;p2"/>
            <p:cNvSpPr/>
            <p:nvPr/>
          </p:nvSpPr>
          <p:spPr>
            <a:xfrm>
              <a:off x="4489064" y="0"/>
              <a:ext cx="1645627" cy="1894293"/>
            </a:xfrm>
            <a:custGeom>
              <a:avLst/>
              <a:gdLst/>
              <a:ahLst/>
              <a:cxnLst/>
              <a:rect l="l" t="t" r="r" b="b"/>
              <a:pathLst>
                <a:path w="1645627" h="1894293" extrusionOk="0">
                  <a:moveTo>
                    <a:pt x="0" y="0"/>
                  </a:moveTo>
                  <a:lnTo>
                    <a:pt x="1645627" y="0"/>
                  </a:lnTo>
                  <a:lnTo>
                    <a:pt x="1645627" y="1894293"/>
                  </a:lnTo>
                  <a:lnTo>
                    <a:pt x="0" y="189429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l="-720" r="-720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240525" y="588852"/>
              <a:ext cx="3971218" cy="6529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400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53"/>
                <a:buFont typeface="Arial"/>
                <a:buNone/>
                <a:tabLst/>
                <a:defRPr/>
              </a:pPr>
              <a:r>
                <a:rPr kumimoji="0" lang="en-US" sz="2853" b="1" i="0" u="none" strike="noStrike" kern="0" cap="none" spc="0" normalizeH="0" baseline="0" noProof="0">
                  <a:ln>
                    <a:noFill/>
                  </a:ln>
                  <a:solidFill>
                    <a:srgbClr val="D9D9D9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&lt;NetCoreConf/&gt;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0" y="1364955"/>
              <a:ext cx="3971100" cy="47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33"/>
                <a:buFont typeface="Arial"/>
                <a:buNone/>
                <a:tabLst/>
                <a:defRPr/>
              </a:pPr>
              <a:r>
                <a:rPr kumimoji="0" lang="en-US" sz="2333" b="0" i="0" u="none" strike="noStrike" kern="0" cap="none" spc="0" normalizeH="0" baseline="0" noProof="0">
                  <a:ln>
                    <a:noFill/>
                  </a:ln>
                  <a:solidFill>
                    <a:srgbClr val="D9D9D9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Madrid ‘26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" name="Google Shape;107;p2"/>
          <p:cNvSpPr txBox="1"/>
          <p:nvPr/>
        </p:nvSpPr>
        <p:spPr>
          <a:xfrm>
            <a:off x="759956" y="817946"/>
            <a:ext cx="2926313" cy="550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9"/>
              <a:buFont typeface="Arial"/>
              <a:buNone/>
              <a:tabLst/>
              <a:defRPr/>
            </a:pPr>
            <a:r>
              <a:rPr kumimoji="0" lang="en-US" sz="3059" b="0" i="0" u="none" strike="noStrike" kern="0" cap="none" spc="0" normalizeH="0" baseline="0" noProof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Sponsors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" name="Google Shape;108;p2"/>
          <p:cNvCxnSpPr/>
          <p:nvPr/>
        </p:nvCxnSpPr>
        <p:spPr>
          <a:xfrm rot="10800000" flipH="1">
            <a:off x="700612" y="2913366"/>
            <a:ext cx="16705493" cy="57842"/>
          </a:xfrm>
          <a:prstGeom prst="straightConnector1">
            <a:avLst/>
          </a:prstGeom>
          <a:noFill/>
          <a:ln w="19050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9" name="Google Shape;109;p2"/>
          <p:cNvSpPr/>
          <p:nvPr/>
        </p:nvSpPr>
        <p:spPr>
          <a:xfrm>
            <a:off x="6330506" y="2793173"/>
            <a:ext cx="5187834" cy="2511131"/>
          </a:xfrm>
          <a:custGeom>
            <a:avLst/>
            <a:gdLst/>
            <a:ahLst/>
            <a:cxnLst/>
            <a:rect l="l" t="t" r="r" b="b"/>
            <a:pathLst>
              <a:path w="2006899" h="971424" extrusionOk="0">
                <a:moveTo>
                  <a:pt x="0" y="0"/>
                </a:moveTo>
                <a:lnTo>
                  <a:pt x="2006899" y="0"/>
                </a:lnTo>
                <a:lnTo>
                  <a:pt x="2006899" y="971425"/>
                </a:lnTo>
                <a:lnTo>
                  <a:pt x="0" y="971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l="-8131" t="-34334" r="-9321" b="-3663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1714375" y="6351574"/>
            <a:ext cx="5897282" cy="664785"/>
          </a:xfrm>
          <a:custGeom>
            <a:avLst/>
            <a:gdLst/>
            <a:ahLst/>
            <a:cxnLst/>
            <a:rect l="l" t="t" r="r" b="b"/>
            <a:pathLst>
              <a:path w="1983947" h="223645" extrusionOk="0">
                <a:moveTo>
                  <a:pt x="0" y="0"/>
                </a:moveTo>
                <a:lnTo>
                  <a:pt x="1983947" y="0"/>
                </a:lnTo>
                <a:lnTo>
                  <a:pt x="1983947" y="223645"/>
                </a:lnTo>
                <a:lnTo>
                  <a:pt x="0" y="2236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1765427" y="8980626"/>
            <a:ext cx="2111533" cy="629121"/>
          </a:xfrm>
          <a:custGeom>
            <a:avLst/>
            <a:gdLst/>
            <a:ahLst/>
            <a:cxnLst/>
            <a:rect l="l" t="t" r="r" b="b"/>
            <a:pathLst>
              <a:path w="1147110" h="341776" extrusionOk="0">
                <a:moveTo>
                  <a:pt x="0" y="0"/>
                </a:moveTo>
                <a:lnTo>
                  <a:pt x="1147110" y="0"/>
                </a:lnTo>
                <a:lnTo>
                  <a:pt x="1147110" y="341776"/>
                </a:lnTo>
                <a:lnTo>
                  <a:pt x="0" y="3417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" name="Google Shape;112;p2"/>
          <p:cNvCxnSpPr/>
          <p:nvPr/>
        </p:nvCxnSpPr>
        <p:spPr>
          <a:xfrm>
            <a:off x="700612" y="8579914"/>
            <a:ext cx="16705493" cy="28596"/>
          </a:xfrm>
          <a:prstGeom prst="straightConnector1">
            <a:avLst/>
          </a:prstGeom>
          <a:noFill/>
          <a:ln w="19050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3" name="Google Shape;113;p2"/>
          <p:cNvSpPr/>
          <p:nvPr/>
        </p:nvSpPr>
        <p:spPr>
          <a:xfrm>
            <a:off x="13424262" y="8952019"/>
            <a:ext cx="3590104" cy="657728"/>
          </a:xfrm>
          <a:custGeom>
            <a:avLst/>
            <a:gdLst/>
            <a:ahLst/>
            <a:cxnLst/>
            <a:rect l="l" t="t" r="r" b="b"/>
            <a:pathLst>
              <a:path w="1950357" h="357317" extrusionOk="0">
                <a:moveTo>
                  <a:pt x="0" y="0"/>
                </a:moveTo>
                <a:lnTo>
                  <a:pt x="1950357" y="0"/>
                </a:lnTo>
                <a:lnTo>
                  <a:pt x="1950357" y="357317"/>
                </a:lnTo>
                <a:lnTo>
                  <a:pt x="0" y="3573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11413379" y="3456618"/>
            <a:ext cx="7102491" cy="1769705"/>
          </a:xfrm>
          <a:custGeom>
            <a:avLst/>
            <a:gdLst/>
            <a:ahLst/>
            <a:cxnLst/>
            <a:rect l="l" t="t" r="r" b="b"/>
            <a:pathLst>
              <a:path w="2582724" h="643529" extrusionOk="0">
                <a:moveTo>
                  <a:pt x="0" y="0"/>
                </a:moveTo>
                <a:lnTo>
                  <a:pt x="2582724" y="0"/>
                </a:lnTo>
                <a:lnTo>
                  <a:pt x="2582724" y="643529"/>
                </a:lnTo>
                <a:lnTo>
                  <a:pt x="0" y="6435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881912" y="3428990"/>
            <a:ext cx="5141475" cy="1466124"/>
          </a:xfrm>
          <a:custGeom>
            <a:avLst/>
            <a:gdLst/>
            <a:ahLst/>
            <a:cxnLst/>
            <a:rect l="l" t="t" r="r" b="b"/>
            <a:pathLst>
              <a:path w="1988965" h="567166" extrusionOk="0">
                <a:moveTo>
                  <a:pt x="0" y="0"/>
                </a:moveTo>
                <a:lnTo>
                  <a:pt x="1988965" y="0"/>
                </a:lnTo>
                <a:lnTo>
                  <a:pt x="1988965" y="567166"/>
                </a:lnTo>
                <a:lnTo>
                  <a:pt x="0" y="5671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881895" y="2315439"/>
            <a:ext cx="6449608" cy="68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Platinum sponsors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881895" y="7915477"/>
            <a:ext cx="6449608" cy="68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Gold sponsors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10009993" y="7915477"/>
            <a:ext cx="64497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Colabora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rgbClr val="D9D9D9"/>
              </a:solidFill>
              <a:effectLst/>
              <a:uLnTx/>
              <a:uFillTx/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4264196" y="8063619"/>
            <a:ext cx="2463133" cy="2463133"/>
          </a:xfrm>
          <a:custGeom>
            <a:avLst/>
            <a:gdLst/>
            <a:ahLst/>
            <a:cxnLst/>
            <a:rect l="l" t="t" r="r" b="b"/>
            <a:pathLst>
              <a:path w="1404793" h="1404793" extrusionOk="0">
                <a:moveTo>
                  <a:pt x="0" y="0"/>
                </a:moveTo>
                <a:lnTo>
                  <a:pt x="1404793" y="0"/>
                </a:lnTo>
                <a:lnTo>
                  <a:pt x="1404793" y="1404793"/>
                </a:lnTo>
                <a:lnTo>
                  <a:pt x="0" y="14047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2" title="v-valley-blanco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0567715" y="5830225"/>
            <a:ext cx="6838385" cy="155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" title="scrm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727329" y="8802387"/>
            <a:ext cx="3067771" cy="95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777240" y="1481328"/>
            <a:ext cx="1371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dirty="0">
                <a:solidFill>
                  <a:srgbClr val="FFFFFF"/>
                </a:solidFill>
                <a:latin typeface="Poppins"/>
              </a:rPr>
              <a:t>Sergio Hierro</a:t>
            </a:r>
            <a:r>
              <a:rPr lang="es-ES" sz="4000" b="1" dirty="0">
                <a:solidFill>
                  <a:srgbClr val="FFFFFF"/>
                </a:solidFill>
                <a:latin typeface="Poppins"/>
              </a:rPr>
              <a:t> (</a:t>
            </a:r>
            <a:r>
              <a:rPr lang="es-ES" sz="4000" b="1" dirty="0" err="1">
                <a:solidFill>
                  <a:srgbClr val="FFFFFF"/>
                </a:solidFill>
                <a:latin typeface="Poppins"/>
              </a:rPr>
              <a:t>Sertxito</a:t>
            </a:r>
            <a:r>
              <a:rPr lang="es-ES" sz="4000" b="1" dirty="0">
                <a:solidFill>
                  <a:srgbClr val="FFFFFF"/>
                </a:solidFill>
                <a:latin typeface="Poppins"/>
              </a:rPr>
              <a:t>)</a:t>
            </a:r>
            <a:endParaRPr sz="4000" b="1" dirty="0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217" name="Rounded Rectangle 216"/>
          <p:cNvSpPr/>
          <p:nvPr/>
        </p:nvSpPr>
        <p:spPr>
          <a:xfrm>
            <a:off x="777240" y="3017520"/>
            <a:ext cx="5669280" cy="6309360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18" name="Picture 217" descr="image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0200" y="3161901"/>
            <a:ext cx="4023360" cy="3261122"/>
          </a:xfrm>
          <a:prstGeom prst="rect">
            <a:avLst/>
          </a:prstGeom>
        </p:spPr>
      </p:pic>
      <p:sp>
        <p:nvSpPr>
          <p:cNvPr id="219" name="TextBox 218"/>
          <p:cNvSpPr txBox="1"/>
          <p:nvPr/>
        </p:nvSpPr>
        <p:spPr>
          <a:xfrm>
            <a:off x="1143000" y="6482181"/>
            <a:ext cx="54699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Poppins"/>
              </a:rPr>
              <a:t>Software Engineering TC · Avanade</a:t>
            </a:r>
          </a:p>
          <a:p>
            <a:pPr algn="ctr">
              <a:spcAft>
                <a:spcPts val="600"/>
              </a:spcAft>
            </a:pPr>
            <a:r>
              <a:rPr sz="2400" b="0" err="1">
                <a:solidFill>
                  <a:srgbClr val="D9D9D9"/>
                </a:solidFill>
                <a:latin typeface="Poppins"/>
              </a:rPr>
              <a:t>Tecnólogo</a:t>
            </a:r>
            <a:r>
              <a:rPr sz="2400" b="0">
                <a:solidFill>
                  <a:srgbClr val="D9D9D9"/>
                </a:solidFill>
                <a:latin typeface="Poppins"/>
              </a:rPr>
              <a:t> · Consultor </a:t>
            </a:r>
            <a:endParaRPr lang="es-ES" sz="2400">
              <a:solidFill>
                <a:srgbClr val="D9D9D9"/>
              </a:solidFill>
              <a:latin typeface="Poppins"/>
            </a:endParaRPr>
          </a:p>
          <a:p>
            <a:pPr algn="ctr">
              <a:spcAft>
                <a:spcPts val="600"/>
              </a:spcAft>
            </a:pPr>
            <a:r>
              <a:rPr sz="2400" b="0">
                <a:solidFill>
                  <a:srgbClr val="D9D9D9"/>
                </a:solidFill>
                <a:latin typeface="Poppins"/>
              </a:rPr>
              <a:t>Full-Stack Dev</a:t>
            </a:r>
          </a:p>
          <a:p>
            <a:pPr algn="ctr">
              <a:spcAft>
                <a:spcPts val="600"/>
              </a:spcAft>
            </a:pPr>
            <a:r>
              <a:rPr sz="2400" b="0">
                <a:solidFill>
                  <a:srgbClr val="D9D9D9"/>
                </a:solidFill>
                <a:latin typeface="Poppins"/>
              </a:rPr>
              <a:t>Staff Lead · Tech Riders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143000" y="8458200"/>
            <a:ext cx="49377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FF4D9D"/>
                </a:solidFill>
                <a:latin typeface="Poppins"/>
              </a:rPr>
              <a:t>@sertxito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6903720" y="3017520"/>
            <a:ext cx="10607040" cy="6309360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23" name="Picture 2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0920" y="3994785"/>
            <a:ext cx="2251710" cy="2251710"/>
          </a:xfrm>
          <a:prstGeom prst="rect">
            <a:avLst/>
          </a:prstGeom>
        </p:spPr>
      </p:pic>
      <p:pic>
        <p:nvPicPr>
          <p:cNvPr id="224" name="Picture 2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41230" y="3994785"/>
            <a:ext cx="2251710" cy="2251710"/>
          </a:xfrm>
          <a:prstGeom prst="rect">
            <a:avLst/>
          </a:prstGeom>
        </p:spPr>
      </p:pic>
      <p:pic>
        <p:nvPicPr>
          <p:cNvPr id="225" name="Picture 2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321540" y="3994785"/>
            <a:ext cx="2251710" cy="2251710"/>
          </a:xfrm>
          <a:prstGeom prst="rect">
            <a:avLst/>
          </a:prstGeom>
        </p:spPr>
      </p:pic>
      <p:pic>
        <p:nvPicPr>
          <p:cNvPr id="226" name="Picture 2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801850" y="3994785"/>
            <a:ext cx="2251710" cy="2251710"/>
          </a:xfrm>
          <a:prstGeom prst="rect">
            <a:avLst/>
          </a:prstGeom>
        </p:spPr>
      </p:pic>
      <p:pic>
        <p:nvPicPr>
          <p:cNvPr id="227" name="Picture 22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00210" y="6629400"/>
            <a:ext cx="2173128" cy="2377440"/>
          </a:xfrm>
          <a:prstGeom prst="rect">
            <a:avLst/>
          </a:prstGeom>
        </p:spPr>
      </p:pic>
      <p:pic>
        <p:nvPicPr>
          <p:cNvPr id="228" name="Picture 22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64268" y="6629400"/>
            <a:ext cx="2205632" cy="2377440"/>
          </a:xfrm>
          <a:prstGeom prst="rect">
            <a:avLst/>
          </a:prstGeom>
        </p:spPr>
      </p:pic>
      <p:pic>
        <p:nvPicPr>
          <p:cNvPr id="229" name="Picture 22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351543" y="6629400"/>
            <a:ext cx="2191702" cy="2377440"/>
          </a:xfrm>
          <a:prstGeom prst="rect">
            <a:avLst/>
          </a:prstGeom>
        </p:spPr>
      </p:pic>
      <p:pic>
        <p:nvPicPr>
          <p:cNvPr id="230" name="Picture 22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801850" y="7321811"/>
            <a:ext cx="2251710" cy="9926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77240" y="1170432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4D9D"/>
                </a:solidFill>
                <a:latin typeface="Poppins"/>
              </a:rPr>
              <a:t>COMUNIDAD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77240" y="1481328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Poppins"/>
              </a:rPr>
              <a:t>Tech Riders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777240" y="3017520"/>
            <a:ext cx="8229600" cy="6309360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18" name="Picture 2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3040" y="3383280"/>
            <a:ext cx="4937760" cy="4937760"/>
          </a:xfrm>
          <a:prstGeom prst="rect">
            <a:avLst/>
          </a:prstGeom>
        </p:spPr>
      </p:pic>
      <p:sp>
        <p:nvSpPr>
          <p:cNvPr id="219" name="TextBox 218"/>
          <p:cNvSpPr txBox="1"/>
          <p:nvPr/>
        </p:nvSpPr>
        <p:spPr>
          <a:xfrm>
            <a:off x="1234440" y="8503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D9D9D9"/>
                </a:solidFill>
                <a:latin typeface="Poppins"/>
              </a:rPr>
              <a:t>Comunidad de tecnología y divulgación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9464040" y="3017520"/>
            <a:ext cx="8046720" cy="6309360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1" name="Picture 2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2680" y="3566160"/>
            <a:ext cx="2651760" cy="1222295"/>
          </a:xfrm>
          <a:prstGeom prst="rect">
            <a:avLst/>
          </a:prstGeom>
        </p:spPr>
      </p:pic>
      <p:sp>
        <p:nvSpPr>
          <p:cNvPr id="222" name="TextBox 221"/>
          <p:cNvSpPr txBox="1"/>
          <p:nvPr/>
        </p:nvSpPr>
        <p:spPr>
          <a:xfrm>
            <a:off x="10012680" y="5029200"/>
            <a:ext cx="288036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Poppins"/>
              </a:rPr>
              <a:t>¡</a:t>
            </a:r>
            <a:r>
              <a:rPr sz="3200" b="1" err="1">
                <a:solidFill>
                  <a:srgbClr val="FFFFFF"/>
                </a:solidFill>
                <a:latin typeface="Poppins"/>
              </a:rPr>
              <a:t>Todas</a:t>
            </a:r>
            <a:r>
              <a:rPr sz="3200" b="1">
                <a:solidFill>
                  <a:srgbClr val="FFFFFF"/>
                </a:solidFill>
                <a:latin typeface="Poppins"/>
              </a:rPr>
              <a:t> </a:t>
            </a:r>
            <a:r>
              <a:rPr sz="3200" b="1" err="1">
                <a:solidFill>
                  <a:srgbClr val="FFFFFF"/>
                </a:solidFill>
                <a:latin typeface="Poppins"/>
              </a:rPr>
              <a:t>nuestras</a:t>
            </a:r>
            <a:r>
              <a:rPr sz="3200" b="1">
                <a:solidFill>
                  <a:srgbClr val="FFFFFF"/>
                </a:solidFill>
                <a:latin typeface="Poppins"/>
              </a:rPr>
              <a:t> redes </a:t>
            </a:r>
            <a:r>
              <a:rPr sz="3200" b="1" err="1">
                <a:solidFill>
                  <a:srgbClr val="FFFFFF"/>
                </a:solidFill>
                <a:latin typeface="Poppins"/>
              </a:rPr>
              <a:t>en</a:t>
            </a:r>
            <a:r>
              <a:rPr sz="3200" b="1">
                <a:solidFill>
                  <a:srgbClr val="FFFFFF"/>
                </a:solidFill>
                <a:latin typeface="Poppins"/>
              </a:rPr>
              <a:t> el QR!</a:t>
            </a:r>
          </a:p>
          <a:p>
            <a:pPr algn="ctr">
              <a:spcAft>
                <a:spcPts val="600"/>
              </a:spcAft>
            </a:pPr>
            <a:r>
              <a:rPr sz="3200" b="0" err="1">
                <a:solidFill>
                  <a:srgbClr val="D9D9D9"/>
                </a:solidFill>
                <a:latin typeface="Poppins"/>
              </a:rPr>
              <a:t>Síguenos</a:t>
            </a:r>
            <a:endParaRPr sz="3200" b="0">
              <a:solidFill>
                <a:srgbClr val="D9D9D9"/>
              </a:solidFill>
              <a:latin typeface="Poppins"/>
            </a:endParaRPr>
          </a:p>
        </p:txBody>
      </p:sp>
      <p:sp>
        <p:nvSpPr>
          <p:cNvPr id="224" name="Rounded Rectangle 223"/>
          <p:cNvSpPr/>
          <p:nvPr/>
        </p:nvSpPr>
        <p:spPr>
          <a:xfrm>
            <a:off x="13121640" y="3977639"/>
            <a:ext cx="3931920" cy="3931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23" name="Picture 2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50240" y="4206240"/>
            <a:ext cx="3474720" cy="347472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D53CE3F-2426-6CA1-FA2D-D85CBD4D53D6}"/>
              </a:ext>
            </a:extLst>
          </p:cNvPr>
          <p:cNvSpPr txBox="1"/>
          <p:nvPr/>
        </p:nvSpPr>
        <p:spPr>
          <a:xfrm>
            <a:off x="10657572" y="8157814"/>
            <a:ext cx="53853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800" b="0">
                <a:solidFill>
                  <a:srgbClr val="D9D9D9"/>
                </a:solidFill>
                <a:latin typeface="Poppins"/>
              </a:rPr>
              <a:t>@TechRiders_es </a:t>
            </a:r>
            <a:endParaRPr lang="es-ES" sz="4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77240" y="1170432"/>
            <a:ext cx="1673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4D9D"/>
                </a:solidFill>
                <a:latin typeface="Poppins"/>
              </a:rPr>
              <a:t>EL HILO CONDUCTOR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77240" y="1481328"/>
            <a:ext cx="167335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Poppins"/>
              </a:rPr>
              <a:t>La evolución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594360" y="2788920"/>
            <a:ext cx="3200400" cy="3719779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080" b="1">
                <a:solidFill>
                  <a:srgbClr val="FFFFFF"/>
                </a:solidFill>
                <a:latin typeface="Poppins"/>
              </a:rPr>
              <a:t>API</a:t>
            </a:r>
            <a:br>
              <a:rPr lang="es-ES" sz="3200" b="1">
                <a:solidFill>
                  <a:srgbClr val="FFFFFF"/>
                </a:solidFill>
                <a:latin typeface="Poppins"/>
              </a:rPr>
            </a:br>
            <a:r>
              <a:rPr lang="es-ES" sz="3080" b="1">
                <a:solidFill>
                  <a:srgbClr val="FFFFFF"/>
                </a:solidFill>
                <a:latin typeface="Poppins"/>
              </a:rPr>
              <a:t>tradicional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3799332" y="4325112"/>
            <a:ext cx="265176" cy="542239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620" b="1">
                <a:solidFill>
                  <a:srgbClr val="FF4D9D"/>
                </a:solidFill>
                <a:latin typeface="Poppins"/>
              </a:rPr>
              <a:t>→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4069080" y="2788920"/>
            <a:ext cx="3200400" cy="3719779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1860" b="1">
                <a:solidFill>
                  <a:srgbClr val="FFFFFF"/>
                </a:solidFill>
                <a:latin typeface="Poppins"/>
              </a:rPr>
              <a:t>Agente</a:t>
            </a:r>
            <a:br>
              <a:rPr lang="es-ES" sz="2800" b="1">
                <a:solidFill>
                  <a:srgbClr val="FFFFFF"/>
                </a:solidFill>
                <a:latin typeface="Poppins"/>
              </a:rPr>
            </a:br>
            <a:r>
              <a:rPr lang="es-ES" sz="1860" b="1">
                <a:solidFill>
                  <a:srgbClr val="FFFFFF"/>
                </a:solidFill>
                <a:latin typeface="Poppins"/>
              </a:rPr>
              <a:t>consumiendo REST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7274052" y="4325112"/>
            <a:ext cx="265176" cy="542239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620" b="1">
                <a:solidFill>
                  <a:srgbClr val="FF4D9D"/>
                </a:solidFill>
                <a:latin typeface="Poppins"/>
              </a:rPr>
              <a:t>→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7543800" y="2788920"/>
            <a:ext cx="3200400" cy="3719779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130" b="1" err="1">
                <a:solidFill>
                  <a:srgbClr val="FFFFFF"/>
                </a:solidFill>
                <a:latin typeface="Poppins"/>
              </a:rPr>
              <a:t>Problemas</a:t>
            </a:r>
            <a:br>
              <a:rPr lang="es-ES" sz="3200" b="1" err="1">
                <a:solidFill>
                  <a:srgbClr val="FFFFFF"/>
                </a:solidFill>
                <a:latin typeface="Poppins"/>
              </a:rPr>
            </a:br>
            <a:r>
              <a:rPr lang="es-ES" sz="3130" b="1" err="1">
                <a:solidFill>
                  <a:srgbClr val="FFFFFF"/>
                </a:solidFill>
                <a:latin typeface="Poppins"/>
              </a:rPr>
              <a:t>reales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0748772" y="4325112"/>
            <a:ext cx="265176" cy="542239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620" b="1" dirty="0">
                <a:solidFill>
                  <a:srgbClr val="FF4D9D"/>
                </a:solidFill>
                <a:latin typeface="Poppins"/>
              </a:rPr>
              <a:t>→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11018519" y="2788920"/>
            <a:ext cx="3200400" cy="3719779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380" b="1">
                <a:solidFill>
                  <a:srgbClr val="FFFFFF"/>
                </a:solidFill>
                <a:latin typeface="Poppins"/>
              </a:rPr>
              <a:t>Capacidades</a:t>
            </a:r>
            <a:br>
              <a:rPr lang="es-ES" sz="3040" b="1">
                <a:solidFill>
                  <a:srgbClr val="FFFFFF"/>
                </a:solidFill>
                <a:latin typeface="Poppins"/>
              </a:rPr>
            </a:br>
            <a:r>
              <a:rPr lang="es-ES" sz="2380" b="1">
                <a:solidFill>
                  <a:srgbClr val="FFFFFF"/>
                </a:solidFill>
                <a:latin typeface="Poppins"/>
              </a:rPr>
              <a:t>mejor definidas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4223492" y="4325112"/>
            <a:ext cx="265176" cy="542239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620" b="1" dirty="0">
                <a:solidFill>
                  <a:srgbClr val="FF4D9D"/>
                </a:solidFill>
                <a:latin typeface="Poppins"/>
              </a:rPr>
              <a:t>→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14493240" y="2788920"/>
            <a:ext cx="3200400" cy="3719779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200" b="1">
                <a:solidFill>
                  <a:srgbClr val="FFFFFF"/>
                </a:solidFill>
                <a:latin typeface="Poppins"/>
              </a:rPr>
              <a:t>MCP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594360" y="7500823"/>
            <a:ext cx="3200400" cy="138623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180" err="1">
                <a:solidFill>
                  <a:srgbClr val="E8E8E8"/>
                </a:solidFill>
                <a:latin typeface="Poppins"/>
              </a:rPr>
              <a:t>La solución de partida.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4069080" y="7500823"/>
            <a:ext cx="3200400" cy="138623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180">
                <a:solidFill>
                  <a:srgbClr val="E8E8E8"/>
                </a:solidFill>
                <a:latin typeface="Poppins"/>
              </a:rPr>
              <a:t>La misma API recibe la misión.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7543800" y="7500823"/>
            <a:ext cx="3200400" cy="138623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180">
                <a:solidFill>
                  <a:srgbClr val="E8E8E8"/>
                </a:solidFill>
                <a:latin typeface="Poppins"/>
              </a:rPr>
              <a:t>La demo revela lo que falta.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11018519" y="7500823"/>
            <a:ext cx="3200400" cy="138623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710">
                <a:solidFill>
                  <a:srgbClr val="E8E8E8"/>
                </a:solidFill>
                <a:latin typeface="Poppins"/>
              </a:rPr>
              <a:t>Application publica evidencia y límites.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14493240" y="7500823"/>
            <a:ext cx="3200400" cy="1386230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020">
                <a:solidFill>
                  <a:srgbClr val="E8E8E8"/>
                </a:solidFill>
                <a:latin typeface="Poppins"/>
              </a:rPr>
              <a:t>MCP publica las capacidades mejoradas.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" grpId="0" animBg="1"/>
      <p:bldP spid="220" grpId="0"/>
      <p:bldP spid="221" grpId="0" animBg="1"/>
      <p:bldP spid="222" grpId="0"/>
      <p:bldP spid="223" grpId="0" animBg="1"/>
      <p:bldP spid="224" grpId="0"/>
      <p:bldP spid="225" grpId="0" animBg="1"/>
      <p:bldP spid="226" grpId="0"/>
      <p:bldP spid="227" grpId="0"/>
      <p:bldP spid="228" grpId="0"/>
      <p:bldP spid="229" grpId="0"/>
      <p:bldP spid="2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77240" y="1170432"/>
            <a:ext cx="1673352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4D9D"/>
                </a:solidFill>
                <a:latin typeface="Poppins"/>
              </a:rPr>
              <a:t>SECCIÓN 01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77240" y="3017520"/>
            <a:ext cx="16733520" cy="29093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600"/>
              </a:spcAft>
            </a:pPr>
            <a:r>
              <a:rPr lang="es-ES" sz="6000" b="1">
                <a:solidFill>
                  <a:srgbClr val="D9D9D9"/>
                </a:solidFill>
                <a:latin typeface="Poppins"/>
              </a:rPr>
              <a:t>API REST</a:t>
            </a:r>
            <a:endParaRPr sz="5400" b="1" dirty="0">
              <a:solidFill>
                <a:srgbClr val="D9D9D9"/>
              </a:solidFill>
              <a:latin typeface="Poppins"/>
            </a:endParaRPr>
          </a:p>
          <a:p>
            <a:pPr algn="l">
              <a:spcAft>
                <a:spcPts val="2600"/>
              </a:spcAft>
            </a:pPr>
            <a:endParaRPr sz="5400" b="1" dirty="0">
              <a:solidFill>
                <a:srgbClr val="D9D9D9"/>
              </a:solidFill>
              <a:latin typeface="Poppins"/>
            </a:endParaRPr>
          </a:p>
          <a:p>
            <a:pPr algn="l">
              <a:spcAft>
                <a:spcPts val="0"/>
              </a:spcAft>
            </a:pPr>
            <a:r>
              <a:rPr lang="es-ES" sz="3172" b="1">
                <a:solidFill>
                  <a:srgbClr val="FF4D9D"/>
                </a:solidFill>
                <a:latin typeface="Poppins"/>
              </a:rPr>
              <a:t>El modelo que conocemos, la solución de partida.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77240" y="1170432"/>
            <a:ext cx="1673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4D9D"/>
                </a:solidFill>
                <a:latin typeface="Poppins"/>
              </a:rPr>
              <a:t>EL MODELO QUE CONOCEMOS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77240" y="1481328"/>
            <a:ext cx="1673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Poppins"/>
              </a:rPr>
              <a:t>Una API normal de ASP.NET Core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594360" y="2788920"/>
            <a:ext cx="17099280" cy="1132169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790" b="0">
                <a:solidFill>
                  <a:srgbClr val="D9D9D9"/>
                </a:solidFill>
                <a:latin typeface="Poppins"/>
              </a:rPr>
              <a:t>Controllers y DTOs exponen operaciones HTTP. OpenAPI describe sus rutas, parámetros y respuestas.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594360" y="4340192"/>
            <a:ext cx="4064581" cy="2978443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200" b="1">
                <a:solidFill>
                  <a:srgbClr val="FF4D9D"/>
                </a:solidFill>
                <a:latin typeface="Poppins"/>
              </a:rPr>
              <a:t>Endpoints</a:t>
            </a:r>
          </a:p>
          <a:p>
            <a:pPr algn="ctr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170">
                <a:solidFill>
                  <a:srgbClr val="D9D9D9"/>
                </a:solidFill>
                <a:latin typeface="Poppins"/>
              </a:rPr>
              <a:t>Verbos y rutas sobre recursos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4939257" y="4340192"/>
            <a:ext cx="4064581" cy="2978443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200" b="1">
                <a:solidFill>
                  <a:srgbClr val="FF4D9D"/>
                </a:solidFill>
                <a:latin typeface="Poppins"/>
              </a:rPr>
              <a:t>DTOs</a:t>
            </a:r>
          </a:p>
          <a:p>
            <a:pPr algn="ctr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170">
                <a:solidFill>
                  <a:srgbClr val="D9D9D9"/>
                </a:solidFill>
                <a:latin typeface="Poppins"/>
              </a:rPr>
              <a:t>Datos de entrada y salida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9284157" y="4340192"/>
            <a:ext cx="4064581" cy="2978443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200" b="1">
                <a:solidFill>
                  <a:srgbClr val="FF4D9D"/>
                </a:solidFill>
                <a:latin typeface="Poppins"/>
              </a:rPr>
              <a:t>OpenAPI</a:t>
            </a:r>
          </a:p>
          <a:p>
            <a:pPr algn="ctr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170">
                <a:solidFill>
                  <a:srgbClr val="D9D9D9"/>
                </a:solidFill>
                <a:latin typeface="Poppins"/>
              </a:rPr>
              <a:t>Contrato de operaciones HTTP</a:t>
            </a:r>
            <a:endParaRPr lang="es-ES" sz="1600">
              <a:solidFill>
                <a:srgbClr val="D9D9D9"/>
              </a:solidFill>
              <a:latin typeface="Poppins"/>
            </a:endParaRPr>
          </a:p>
        </p:txBody>
      </p:sp>
      <p:sp>
        <p:nvSpPr>
          <p:cNvPr id="221" name="Rounded Rectangle 220"/>
          <p:cNvSpPr/>
          <p:nvPr/>
        </p:nvSpPr>
        <p:spPr>
          <a:xfrm>
            <a:off x="13629056" y="4340192"/>
            <a:ext cx="4064581" cy="2978443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200" b="1">
                <a:solidFill>
                  <a:srgbClr val="FF4D9D"/>
                </a:solidFill>
                <a:latin typeface="Poppins"/>
              </a:rPr>
              <a:t>Swagger</a:t>
            </a:r>
            <a:endParaRPr lang="es-ES" sz="2200" b="1">
              <a:solidFill>
                <a:srgbClr val="FF4D9D"/>
              </a:solidFill>
              <a:latin typeface="Poppins"/>
            </a:endParaRPr>
          </a:p>
          <a:p>
            <a:pPr algn="ctr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170">
                <a:solidFill>
                  <a:srgbClr val="D9D9D9"/>
                </a:solidFill>
                <a:latin typeface="Poppins"/>
              </a:rPr>
              <a:t>Exploración y prueba del contrato</a:t>
            </a:r>
            <a:endParaRPr lang="es-ES" sz="1600">
              <a:solidFill>
                <a:srgbClr val="D9D9D9"/>
              </a:solidFill>
              <a:latin typeface="Poppins"/>
            </a:endParaRPr>
          </a:p>
        </p:txBody>
      </p:sp>
      <p:sp>
        <p:nvSpPr>
          <p:cNvPr id="222" name="TextBox 221"/>
          <p:cNvSpPr txBox="1"/>
          <p:nvPr/>
        </p:nvSpPr>
        <p:spPr>
          <a:xfrm>
            <a:off x="594360" y="8063247"/>
            <a:ext cx="17099280" cy="1212127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070" b="1">
                <a:solidFill>
                  <a:srgbClr val="FFFFFF"/>
                </a:solidFill>
                <a:latin typeface="Poppins"/>
              </a:rPr>
              <a:t>Este es el contrato que vamos a poner a prueba.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530" b="0">
                <a:solidFill>
                  <a:srgbClr val="D9D9D9"/>
                </a:solidFill>
                <a:latin typeface="Poppins"/>
              </a:rPr>
              <a:t>La solución funciona con un cliente que conoce sus valores y el recorrido.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" grpId="0" animBg="1"/>
      <p:bldP spid="219" grpId="0" animBg="1"/>
      <p:bldP spid="220" grpId="0" animBg="1"/>
      <p:bldP spid="221" grpId="0" animBg="1"/>
      <p:bldP spid="2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512953" y="4611829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77240" y="1170432"/>
            <a:ext cx="1673352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s-ES" sz="1600" b="1">
                <a:solidFill>
                  <a:srgbClr val="FF4D9D"/>
                </a:solidFill>
                <a:latin typeface="Poppins"/>
              </a:rPr>
              <a:t>UN EJEMPLO: CANCELAR UN EVENTO</a:t>
            </a:r>
            <a:endParaRPr sz="1600" b="1">
              <a:solidFill>
                <a:srgbClr val="FF4D9D"/>
              </a:solidFill>
              <a:latin typeface="Poppins"/>
            </a:endParaRPr>
          </a:p>
        </p:txBody>
      </p:sp>
      <p:sp>
        <p:nvSpPr>
          <p:cNvPr id="216" name="TextBox 215"/>
          <p:cNvSpPr txBox="1"/>
          <p:nvPr/>
        </p:nvSpPr>
        <p:spPr>
          <a:xfrm>
            <a:off x="777240" y="1481328"/>
            <a:ext cx="167335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s-ES" sz="4000" b="1">
                <a:solidFill>
                  <a:srgbClr val="FFFFFF"/>
                </a:solidFill>
                <a:latin typeface="Poppins"/>
              </a:rPr>
              <a:t>Conocer el endpoint no basta</a:t>
            </a:r>
            <a:endParaRPr sz="4000" b="1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970" name="Nota 1"/>
          <p:cNvSpPr/>
          <p:nvPr/>
        </p:nvSpPr>
        <p:spPr>
          <a:xfrm>
            <a:off x="594360" y="2788920"/>
            <a:ext cx="5512881" cy="4240155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390" b="1">
                <a:solidFill>
                  <a:srgbClr val="FFFFFF"/>
                </a:solidFill>
                <a:latin typeface="Poppins"/>
              </a:rPr>
              <a:t>¿Cuándo puedo</a:t>
            </a:r>
            <a:br>
              <a:rPr lang="es-ES" sz="3390" b="1">
                <a:solidFill>
                  <a:srgbClr val="FFFFFF"/>
                </a:solidFill>
                <a:latin typeface="Poppins"/>
              </a:rPr>
            </a:br>
            <a:r>
              <a:rPr lang="es-ES" sz="3390" b="1">
                <a:solidFill>
                  <a:srgbClr val="FFFFFF"/>
                </a:solidFill>
                <a:latin typeface="Poppins"/>
              </a:rPr>
              <a:t>cancelarlo?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930" b="0">
                <a:solidFill>
                  <a:srgbClr val="DCC5FF"/>
                </a:solidFill>
                <a:latin typeface="Poppins"/>
              </a:rPr>
              <a:t>La ruta existe. ¿Qué estados permiten cancelar el evento? ¿Qué condiciones debe cumplir la petición?</a:t>
            </a:r>
          </a:p>
        </p:txBody>
      </p:sp>
      <p:sp>
        <p:nvSpPr>
          <p:cNvPr id="971" name="Nota 2"/>
          <p:cNvSpPr/>
          <p:nvPr/>
        </p:nvSpPr>
        <p:spPr>
          <a:xfrm>
            <a:off x="6387557" y="2788920"/>
            <a:ext cx="5512881" cy="4240155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390" b="1">
                <a:solidFill>
                  <a:srgbClr val="FFFFFF"/>
                </a:solidFill>
                <a:latin typeface="Poppins"/>
              </a:rPr>
              <a:t>¿Qué ocurre</a:t>
            </a:r>
            <a:br>
              <a:rPr lang="es-ES" sz="3390" b="1">
                <a:solidFill>
                  <a:srgbClr val="FFFFFF"/>
                </a:solidFill>
                <a:latin typeface="Poppins"/>
              </a:rPr>
            </a:br>
            <a:r>
              <a:rPr lang="es-ES" sz="3390" b="1">
                <a:solidFill>
                  <a:srgbClr val="FFFFFF"/>
                </a:solidFill>
                <a:latin typeface="Poppins"/>
              </a:rPr>
              <a:t>al cancelarlo?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930" b="0">
                <a:solidFill>
                  <a:srgbClr val="DCC5FF"/>
                </a:solidFill>
                <a:latin typeface="Poppins"/>
              </a:rPr>
              <a:t>¿Qué cambia en el evento? ¿Hay otros efectos? La ruta, por sí sola, no responde a estas preguntas.</a:t>
            </a:r>
          </a:p>
        </p:txBody>
      </p:sp>
      <p:sp>
        <p:nvSpPr>
          <p:cNvPr id="972" name="Nota 3"/>
          <p:cNvSpPr/>
          <p:nvPr/>
        </p:nvSpPr>
        <p:spPr>
          <a:xfrm>
            <a:off x="12180756" y="2788920"/>
            <a:ext cx="5512881" cy="4240155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660" b="1">
                <a:solidFill>
                  <a:srgbClr val="FFFFFF"/>
                </a:solidFill>
                <a:latin typeface="Poppins"/>
              </a:rPr>
              <a:t>¿Qué hago</a:t>
            </a:r>
            <a:br>
              <a:rPr lang="es-ES" sz="3660" b="1">
                <a:solidFill>
                  <a:srgbClr val="FFFFFF"/>
                </a:solidFill>
                <a:latin typeface="Poppins"/>
              </a:rPr>
            </a:br>
            <a:r>
              <a:rPr lang="es-ES" sz="3660" b="1">
                <a:solidFill>
                  <a:srgbClr val="FFFFFF"/>
                </a:solidFill>
                <a:latin typeface="Poppins"/>
              </a:rPr>
              <a:t>si falla?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170" b="0">
                <a:solidFill>
                  <a:srgbClr val="DCC5FF"/>
                </a:solidFill>
                <a:latin typeface="Poppins"/>
              </a:rPr>
              <a:t>Un 400 con «Invalid request» no explica qué corregir ni si tiene sentido volver a intentarlo.</a:t>
            </a:r>
          </a:p>
        </p:txBody>
      </p:sp>
      <p:sp>
        <p:nvSpPr>
          <p:cNvPr id="973" name="Pie"/>
          <p:cNvSpPr txBox="1"/>
          <p:nvPr/>
        </p:nvSpPr>
        <p:spPr>
          <a:xfrm>
            <a:off x="594360" y="8622792"/>
            <a:ext cx="17099280" cy="630936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1939" b="0">
                <a:solidFill>
                  <a:srgbClr val="DCC5FF"/>
                </a:solidFill>
                <a:latin typeface="Consolas"/>
              </a:rPr>
              <a:t>POST /events/{id}/cancellation: conocemos la llamada, pero necesitamos contexto para decidir.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0" grpId="0" animBg="1"/>
      <p:bldP spid="971" grpId="0" animBg="1"/>
      <p:bldP spid="972" grpId="0" animBg="1"/>
      <p:bldP spid="97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77240" y="1170432"/>
            <a:ext cx="1673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4D9D"/>
                </a:solidFill>
                <a:latin typeface="Poppins"/>
              </a:rPr>
              <a:t>EL CONSUMIDOR HA CAMBIADO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77240" y="1481328"/>
            <a:ext cx="167335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Poppins"/>
              </a:rPr>
              <a:t>Antes</a:t>
            </a:r>
          </a:p>
        </p:txBody>
      </p:sp>
      <p:sp>
        <p:nvSpPr>
          <p:cNvPr id="941" name="Cadena 1"/>
          <p:cNvSpPr/>
          <p:nvPr/>
        </p:nvSpPr>
        <p:spPr>
          <a:xfrm>
            <a:off x="921395" y="2788920"/>
            <a:ext cx="5007103" cy="888966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1500" b="1">
                <a:solidFill>
                  <a:srgbClr val="FFFFFF"/>
                </a:solidFill>
                <a:latin typeface="Poppins"/>
              </a:rPr>
              <a:t>Usuario</a:t>
            </a:r>
          </a:p>
        </p:txBody>
      </p:sp>
      <p:sp>
        <p:nvSpPr>
          <p:cNvPr id="942" name="Flecha 1"/>
          <p:cNvSpPr txBox="1"/>
          <p:nvPr/>
        </p:nvSpPr>
        <p:spPr>
          <a:xfrm>
            <a:off x="921715" y="3687030"/>
            <a:ext cx="5007254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1240" b="0">
                <a:solidFill>
                  <a:srgbClr val="FF4D9D"/>
                </a:solidFill>
                <a:latin typeface="Consolas"/>
              </a:rPr>
              <a:t>↓</a:t>
            </a:r>
          </a:p>
        </p:txBody>
      </p:sp>
      <p:sp>
        <p:nvSpPr>
          <p:cNvPr id="943" name="Cadena 2"/>
          <p:cNvSpPr/>
          <p:nvPr/>
        </p:nvSpPr>
        <p:spPr>
          <a:xfrm>
            <a:off x="921395" y="3879924"/>
            <a:ext cx="5007103" cy="888966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1500" b="1">
                <a:solidFill>
                  <a:srgbClr val="FFFFFF"/>
                </a:solidFill>
                <a:latin typeface="Poppins"/>
              </a:rPr>
              <a:t>Frontend</a:t>
            </a:r>
          </a:p>
        </p:txBody>
      </p:sp>
      <p:sp>
        <p:nvSpPr>
          <p:cNvPr id="944" name="Flecha 2"/>
          <p:cNvSpPr txBox="1"/>
          <p:nvPr/>
        </p:nvSpPr>
        <p:spPr>
          <a:xfrm>
            <a:off x="921715" y="4778034"/>
            <a:ext cx="5007254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1240" b="0">
                <a:solidFill>
                  <a:srgbClr val="FF4D9D"/>
                </a:solidFill>
                <a:latin typeface="Consolas"/>
              </a:rPr>
              <a:t>↓</a:t>
            </a:r>
          </a:p>
        </p:txBody>
      </p:sp>
      <p:sp>
        <p:nvSpPr>
          <p:cNvPr id="945" name="Cadena 3"/>
          <p:cNvSpPr/>
          <p:nvPr/>
        </p:nvSpPr>
        <p:spPr>
          <a:xfrm>
            <a:off x="921395" y="4970929"/>
            <a:ext cx="5007103" cy="888966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1500" b="1">
                <a:solidFill>
                  <a:srgbClr val="FFFFFF"/>
                </a:solidFill>
                <a:latin typeface="Poppins"/>
              </a:rPr>
              <a:t>REST API</a:t>
            </a:r>
          </a:p>
        </p:txBody>
      </p:sp>
      <p:sp>
        <p:nvSpPr>
          <p:cNvPr id="946" name="Flecha 3"/>
          <p:cNvSpPr txBox="1"/>
          <p:nvPr/>
        </p:nvSpPr>
        <p:spPr>
          <a:xfrm>
            <a:off x="921715" y="5869039"/>
            <a:ext cx="5007254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1240" b="0">
                <a:solidFill>
                  <a:srgbClr val="FF4D9D"/>
                </a:solidFill>
                <a:latin typeface="Consolas"/>
              </a:rPr>
              <a:t>↓</a:t>
            </a:r>
          </a:p>
        </p:txBody>
      </p:sp>
      <p:sp>
        <p:nvSpPr>
          <p:cNvPr id="947" name="Cadena 4"/>
          <p:cNvSpPr/>
          <p:nvPr/>
        </p:nvSpPr>
        <p:spPr>
          <a:xfrm>
            <a:off x="921395" y="6061933"/>
            <a:ext cx="5007103" cy="888966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1500" b="1">
                <a:solidFill>
                  <a:srgbClr val="FFFFFF"/>
                </a:solidFill>
                <a:latin typeface="Poppins"/>
              </a:rPr>
              <a:t>Application</a:t>
            </a:r>
          </a:p>
        </p:txBody>
      </p:sp>
      <p:sp>
        <p:nvSpPr>
          <p:cNvPr id="948" name="Flecha 4"/>
          <p:cNvSpPr txBox="1"/>
          <p:nvPr/>
        </p:nvSpPr>
        <p:spPr>
          <a:xfrm>
            <a:off x="921715" y="6960043"/>
            <a:ext cx="5007254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1240" b="0">
                <a:solidFill>
                  <a:srgbClr val="FF4D9D"/>
                </a:solidFill>
                <a:latin typeface="Consolas"/>
              </a:rPr>
              <a:t>↓</a:t>
            </a:r>
          </a:p>
        </p:txBody>
      </p:sp>
      <p:sp>
        <p:nvSpPr>
          <p:cNvPr id="949" name="Cadena 5"/>
          <p:cNvSpPr/>
          <p:nvPr/>
        </p:nvSpPr>
        <p:spPr>
          <a:xfrm>
            <a:off x="921395" y="7152938"/>
            <a:ext cx="5007103" cy="888966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1500" b="1">
                <a:solidFill>
                  <a:srgbClr val="FFFFFF"/>
                </a:solidFill>
                <a:latin typeface="Poppins"/>
              </a:rPr>
              <a:t>Domain</a:t>
            </a:r>
          </a:p>
        </p:txBody>
      </p:sp>
      <p:sp>
        <p:nvSpPr>
          <p:cNvPr id="950" name="Nota 1"/>
          <p:cNvSpPr/>
          <p:nvPr/>
        </p:nvSpPr>
        <p:spPr>
          <a:xfrm>
            <a:off x="6646579" y="2788920"/>
            <a:ext cx="10720066" cy="1616505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1910" b="1">
                <a:solidFill>
                  <a:srgbClr val="FFFFFF"/>
                </a:solidFill>
                <a:latin typeface="Poppins"/>
              </a:rPr>
              <a:t>El frontend decide el recorrido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1650" b="0">
                <a:solidFill>
                  <a:srgbClr val="DCC5FF"/>
                </a:solidFill>
                <a:latin typeface="Poppins"/>
              </a:rPr>
              <a:t>Qué llamada hacer, en qué orden, con qué valores y qué hacer si algo falla. Todo eso está programado de antemano.</a:t>
            </a:r>
          </a:p>
        </p:txBody>
      </p:sp>
      <p:sp>
        <p:nvSpPr>
          <p:cNvPr id="951" name="Nota 2"/>
          <p:cNvSpPr/>
          <p:nvPr/>
        </p:nvSpPr>
        <p:spPr>
          <a:xfrm>
            <a:off x="6646579" y="4607462"/>
            <a:ext cx="10720066" cy="1616505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1910" b="1">
                <a:solidFill>
                  <a:srgbClr val="FFFFFF"/>
                </a:solidFill>
                <a:latin typeface="Poppins"/>
              </a:rPr>
              <a:t>La interfaz absorbe la ambigüedad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1650" b="0">
                <a:solidFill>
                  <a:srgbClr val="DCC5FF"/>
                </a:solidFill>
                <a:latin typeface="Poppins"/>
              </a:rPr>
              <a:t>Los formularios validan, los desplegables limitan las opciones y los mensajes de error los lee una persona que sabe qué hacer después.</a:t>
            </a:r>
          </a:p>
        </p:txBody>
      </p:sp>
      <p:sp>
        <p:nvSpPr>
          <p:cNvPr id="952" name="Nota 3"/>
          <p:cNvSpPr/>
          <p:nvPr/>
        </p:nvSpPr>
        <p:spPr>
          <a:xfrm>
            <a:off x="6646579" y="6426005"/>
            <a:ext cx="10720066" cy="1616505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1910" b="1">
                <a:solidFill>
                  <a:srgbClr val="FFFFFF"/>
                </a:solidFill>
                <a:latin typeface="Poppins"/>
              </a:rPr>
              <a:t>El conocimiento vive fuera de la API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1650" b="0">
                <a:solidFill>
                  <a:srgbClr val="DCC5FF"/>
                </a:solidFill>
                <a:latin typeface="Poppins"/>
              </a:rPr>
              <a:t>En el funcional, en el Figma, en el ticket y en la cabeza del equipo. Nada de eso viaja en la respuesta que devolvemos.</a:t>
            </a:r>
          </a:p>
        </p:txBody>
      </p:sp>
      <p:sp>
        <p:nvSpPr>
          <p:cNvPr id="953" name="Pie"/>
          <p:cNvSpPr txBox="1"/>
          <p:nvPr/>
        </p:nvSpPr>
        <p:spPr>
          <a:xfrm>
            <a:off x="594360" y="8622792"/>
            <a:ext cx="17099280" cy="630936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840" b="0">
                <a:solidFill>
                  <a:srgbClr val="DCC5FF"/>
                </a:solidFill>
                <a:latin typeface="Consolas"/>
              </a:rPr>
              <a:t>La API nunca tuvo que explicarse: alguien lo hacía por ella.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1" grpId="0" animBg="1"/>
      <p:bldP spid="942" grpId="0"/>
      <p:bldP spid="943" grpId="0" animBg="1"/>
      <p:bldP spid="944" grpId="0"/>
      <p:bldP spid="945" grpId="0" animBg="1"/>
      <p:bldP spid="946" grpId="0"/>
      <p:bldP spid="947" grpId="0" animBg="1"/>
      <p:bldP spid="948" grpId="0"/>
      <p:bldP spid="949" grpId="0" animBg="1"/>
      <p:bldP spid="950" grpId="0" animBg="1"/>
      <p:bldP spid="951" grpId="0" animBg="1"/>
      <p:bldP spid="952" grpId="0" animBg="1"/>
      <p:bldP spid="95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77240" y="1170432"/>
            <a:ext cx="1673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4D9D"/>
                </a:solidFill>
                <a:latin typeface="Poppins"/>
              </a:rPr>
              <a:t>PUNTO DE PARTIDA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77240" y="1481328"/>
            <a:ext cx="167335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Poppins"/>
              </a:rPr>
              <a:t>La solución inicial</a:t>
            </a:r>
          </a:p>
        </p:txBody>
      </p:sp>
      <p:sp>
        <p:nvSpPr>
          <p:cNvPr id="951" name="Proyecto 1"/>
          <p:cNvSpPr/>
          <p:nvPr/>
        </p:nvSpPr>
        <p:spPr>
          <a:xfrm>
            <a:off x="594360" y="2788920"/>
            <a:ext cx="4063593" cy="4877409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92608" rIns="182880" bIns="274320" rtlCol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900" b="1" err="1">
                <a:solidFill>
                  <a:srgbClr val="FFFFFF"/>
                </a:solidFill>
                <a:latin typeface="Poppins"/>
              </a:rPr>
              <a:t>TechRiders.Api</a:t>
            </a:r>
            <a:endParaRPr lang="es-ES" sz="3120" b="1">
              <a:solidFill>
                <a:srgbClr val="FFFFFF"/>
              </a:solidFill>
              <a:latin typeface="Poppins"/>
            </a:endParaRPr>
          </a:p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200"/>
              </a:spcAft>
            </a:pPr>
            <a:r>
              <a:rPr lang="es-ES" sz="2800" b="0" err="1">
                <a:solidFill>
                  <a:srgbClr val="DCC5FF"/>
                </a:solidFill>
                <a:latin typeface="Poppins"/>
              </a:rPr>
              <a:t>Controllers</a:t>
            </a:r>
            <a:r>
              <a:rPr lang="es-ES" sz="2800" b="0">
                <a:solidFill>
                  <a:srgbClr val="DCC5FF"/>
                </a:solidFill>
                <a:latin typeface="Poppins"/>
              </a:rPr>
              <a:t>, </a:t>
            </a:r>
            <a:r>
              <a:rPr lang="es-ES" sz="2800" b="0" err="1">
                <a:solidFill>
                  <a:srgbClr val="DCC5FF"/>
                </a:solidFill>
                <a:latin typeface="Poppins"/>
              </a:rPr>
              <a:t>DTOs</a:t>
            </a:r>
            <a:r>
              <a:rPr lang="es-ES" sz="2800" b="0">
                <a:solidFill>
                  <a:srgbClr val="DCC5FF"/>
                </a:solidFill>
                <a:latin typeface="Poppins"/>
              </a:rPr>
              <a:t>, validación y </a:t>
            </a:r>
            <a:r>
              <a:rPr lang="es-ES" sz="2800" b="0" err="1">
                <a:solidFill>
                  <a:srgbClr val="DCC5FF"/>
                </a:solidFill>
                <a:latin typeface="Poppins"/>
              </a:rPr>
              <a:t>OpenAPI</a:t>
            </a:r>
            <a:r>
              <a:rPr lang="es-ES" sz="2800" b="0">
                <a:solidFill>
                  <a:srgbClr val="DCC5FF"/>
                </a:solidFill>
                <a:latin typeface="Poppins"/>
              </a:rPr>
              <a:t>. La puerta de entrada.</a:t>
            </a:r>
          </a:p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200"/>
              </a:spcAft>
            </a:pPr>
            <a:r>
              <a:rPr lang="es-ES" sz="2800" b="0">
                <a:solidFill>
                  <a:srgbClr val="FF4D9D"/>
                </a:solidFill>
                <a:latin typeface="Poppins"/>
              </a:rPr>
              <a:t>— Aquí se hace explícito el contrato.</a:t>
            </a:r>
          </a:p>
        </p:txBody>
      </p:sp>
      <p:sp>
        <p:nvSpPr>
          <p:cNvPr id="952" name="Proyecto 2"/>
          <p:cNvSpPr/>
          <p:nvPr/>
        </p:nvSpPr>
        <p:spPr>
          <a:xfrm>
            <a:off x="4939588" y="2788920"/>
            <a:ext cx="4063593" cy="4877409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92608" rIns="182880" bIns="274320" rtlCol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050" b="1">
                <a:solidFill>
                  <a:srgbClr val="FFFFFF"/>
                </a:solidFill>
                <a:latin typeface="Poppins"/>
              </a:rPr>
              <a:t>TechRiders.Application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230" b="0">
                <a:solidFill>
                  <a:srgbClr val="DCC5FF"/>
                </a:solidFill>
                <a:latin typeface="Poppins"/>
              </a:rPr>
              <a:t>Casos de uso y orquestación. Lo que la API sabe hacer.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220" b="0">
                <a:solidFill>
                  <a:srgbClr val="FF4D9D"/>
                </a:solidFill>
                <a:latin typeface="Poppins"/>
              </a:rPr>
              <a:t>— Aquí nacen las capacidades nuevas.</a:t>
            </a:r>
          </a:p>
        </p:txBody>
      </p:sp>
      <p:sp>
        <p:nvSpPr>
          <p:cNvPr id="953" name="Proyecto 3"/>
          <p:cNvSpPr/>
          <p:nvPr/>
        </p:nvSpPr>
        <p:spPr>
          <a:xfrm>
            <a:off x="9284817" y="2788920"/>
            <a:ext cx="4063593" cy="4877409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92608" rIns="182880" bIns="274320" rtlCol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500" b="1">
                <a:solidFill>
                  <a:srgbClr val="FFFFFF"/>
                </a:solidFill>
                <a:latin typeface="Poppins"/>
              </a:rPr>
              <a:t>TechRiders.Domain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710" b="0">
                <a:solidFill>
                  <a:srgbClr val="DCC5FF"/>
                </a:solidFill>
                <a:latin typeface="Poppins"/>
              </a:rPr>
              <a:t>Entidades, invariantes y reglas de negocio.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700" b="0">
                <a:solidFill>
                  <a:srgbClr val="FF4D9D"/>
                </a:solidFill>
                <a:latin typeface="Poppins"/>
              </a:rPr>
              <a:t>— No se toca en toda la charla.</a:t>
            </a:r>
          </a:p>
        </p:txBody>
      </p:sp>
      <p:sp>
        <p:nvSpPr>
          <p:cNvPr id="954" name="Proyecto 4"/>
          <p:cNvSpPr/>
          <p:nvPr/>
        </p:nvSpPr>
        <p:spPr>
          <a:xfrm>
            <a:off x="13630046" y="2788920"/>
            <a:ext cx="4063593" cy="4877409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92608" rIns="182880" bIns="274320" rtlCol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1880" b="1">
                <a:solidFill>
                  <a:srgbClr val="FFFFFF"/>
                </a:solidFill>
                <a:latin typeface="Poppins"/>
              </a:rPr>
              <a:t>TechRiders.Infrastructure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070" b="0">
                <a:solidFill>
                  <a:srgbClr val="DCC5FF"/>
                </a:solidFill>
                <a:latin typeface="Poppins"/>
              </a:rPr>
              <a:t>Persistencia, integraciones y servicios externos.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060" b="0">
                <a:solidFill>
                  <a:srgbClr val="FF4D9D"/>
                </a:solidFill>
                <a:latin typeface="Poppins"/>
              </a:rPr>
              <a:t>— No se toca en toda la charla.</a:t>
            </a:r>
          </a:p>
        </p:txBody>
      </p:sp>
      <p:sp>
        <p:nvSpPr>
          <p:cNvPr id="955" name="Pie"/>
          <p:cNvSpPr txBox="1"/>
          <p:nvPr/>
        </p:nvSpPr>
        <p:spPr>
          <a:xfrm>
            <a:off x="594360" y="8008340"/>
            <a:ext cx="17099280" cy="1155829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020" b="1">
                <a:solidFill>
                  <a:srgbClr val="FFFFFF"/>
                </a:solidFill>
                <a:latin typeface="Poppins"/>
              </a:rPr>
              <a:t>ASP.NET Core 10 · arquitectura por capas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620" b="0">
                <a:solidFill>
                  <a:srgbClr val="DCC5FF"/>
                </a:solidFill>
                <a:latin typeface="Poppins"/>
              </a:rPr>
              <a:t>La arquitectura de partida no está rota y no vamos a reescribirla. Todo lo que viene se apoya en ella.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" grpId="0" animBg="1"/>
      <p:bldP spid="953" grpId="0" animBg="1"/>
      <p:bldP spid="954" grpId="0" animBg="1"/>
      <p:bldP spid="95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77240" y="1170432"/>
            <a:ext cx="1371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FF4D9D"/>
                </a:solidFill>
                <a:latin typeface="Poppins"/>
              </a:rPr>
              <a:t>DEMO 1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77240" y="1481328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 dirty="0">
                <a:solidFill>
                  <a:srgbClr val="FFFFFF"/>
                </a:solidFill>
                <a:latin typeface="Poppins"/>
              </a:rPr>
              <a:t>Demo 1 · API REST </a:t>
            </a:r>
            <a:r>
              <a:rPr sz="4000" b="1" dirty="0" err="1">
                <a:solidFill>
                  <a:srgbClr val="FFFFFF"/>
                </a:solidFill>
                <a:latin typeface="Poppins"/>
              </a:rPr>
              <a:t>tradicional</a:t>
            </a:r>
            <a:endParaRPr sz="4000" b="1" dirty="0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217" name="Rounded Rectangle 216"/>
          <p:cNvSpPr/>
          <p:nvPr/>
        </p:nvSpPr>
        <p:spPr>
          <a:xfrm>
            <a:off x="594360" y="3255452"/>
            <a:ext cx="17099280" cy="5998275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222" name="TextBox 221"/>
          <p:cNvSpPr txBox="1"/>
          <p:nvPr/>
        </p:nvSpPr>
        <p:spPr>
          <a:xfrm>
            <a:off x="1295150" y="4092425"/>
            <a:ext cx="15697699" cy="3714222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800" b="1" dirty="0">
                <a:solidFill>
                  <a:srgbClr val="FFFFFF"/>
                </a:solidFill>
                <a:latin typeface="Poppins"/>
              </a:rPr>
              <a:t>Petición de la demo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800" b="0" dirty="0">
                <a:solidFill>
                  <a:srgbClr val="FFFFFF"/>
                </a:solidFill>
                <a:latin typeface="Poppins"/>
              </a:rPr>
              <a:t>GET /</a:t>
            </a:r>
            <a:r>
              <a:rPr lang="es-ES" sz="3800" b="0" dirty="0" err="1">
                <a:solidFill>
                  <a:srgbClr val="FFFFFF"/>
                </a:solidFill>
                <a:latin typeface="Poppins"/>
              </a:rPr>
              <a:t>events?organizerId</a:t>
            </a:r>
            <a:r>
              <a:rPr lang="es-ES" sz="3800" b="0" dirty="0">
                <a:solidFill>
                  <a:srgbClr val="FFFFFF"/>
                </a:solidFill>
                <a:latin typeface="Poppins"/>
              </a:rPr>
              <a:t>=</a:t>
            </a:r>
            <a:r>
              <a:rPr lang="es-ES" sz="3800" b="0" dirty="0" err="1">
                <a:solidFill>
                  <a:srgbClr val="FFFFFF"/>
                </a:solidFill>
                <a:latin typeface="Poppins"/>
              </a:rPr>
              <a:t>org-techriders&amp;status</a:t>
            </a:r>
            <a:r>
              <a:rPr lang="es-ES" sz="3800" b="0" dirty="0">
                <a:solidFill>
                  <a:srgbClr val="FFFFFF"/>
                </a:solidFill>
                <a:latin typeface="Poppins"/>
              </a:rPr>
              <a:t>=</a:t>
            </a:r>
            <a:r>
              <a:rPr lang="es-ES" sz="3800" b="0" dirty="0" err="1">
                <a:solidFill>
                  <a:srgbClr val="FFFFFF"/>
                </a:solidFill>
                <a:latin typeface="Poppins"/>
              </a:rPr>
              <a:t>Pending</a:t>
            </a:r>
            <a:endParaRPr lang="es-ES" sz="3800" b="0" dirty="0">
              <a:solidFill>
                <a:srgbClr val="FFFFFF"/>
              </a:solidFill>
              <a:latin typeface="Poppins"/>
            </a:endParaRP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800" b="1" dirty="0">
                <a:solidFill>
                  <a:srgbClr val="FFFFFF"/>
                </a:solidFill>
                <a:latin typeface="Poppins"/>
              </a:rPr>
              <a:t>Qué demuestra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800" b="0" dirty="0">
                <a:solidFill>
                  <a:srgbClr val="FFFFFF"/>
                </a:solidFill>
                <a:latin typeface="Poppins"/>
              </a:rPr>
              <a:t>El cliente conoce los valores válidos y sabe qué operación consultar.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77240" y="1170432"/>
            <a:ext cx="1673352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4D9D"/>
                </a:solidFill>
                <a:latin typeface="Poppins"/>
              </a:rPr>
              <a:t>SECCIÓN 02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77240" y="3017520"/>
            <a:ext cx="16733520" cy="29093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600"/>
              </a:spcAft>
            </a:pPr>
            <a:r>
              <a:rPr lang="es-ES" sz="6000" b="1">
                <a:solidFill>
                  <a:srgbClr val="D9D9D9"/>
                </a:solidFill>
                <a:latin typeface="Poppins"/>
              </a:rPr>
              <a:t>API consumida por agentes</a:t>
            </a:r>
            <a:endParaRPr sz="5400" b="1">
              <a:solidFill>
                <a:srgbClr val="D9D9D9"/>
              </a:solidFill>
              <a:latin typeface="Poppins"/>
            </a:endParaRPr>
          </a:p>
          <a:p>
            <a:pPr algn="l">
              <a:spcAft>
                <a:spcPts val="2600"/>
              </a:spcAft>
            </a:pPr>
            <a:endParaRPr sz="5400" b="1">
              <a:solidFill>
                <a:srgbClr val="D9D9D9"/>
              </a:solidFill>
              <a:latin typeface="Poppins"/>
            </a:endParaRPr>
          </a:p>
          <a:p>
            <a:pPr algn="l">
              <a:spcAft>
                <a:spcPts val="0"/>
              </a:spcAft>
            </a:pPr>
            <a:r>
              <a:rPr lang="es-ES" sz="3172" b="1">
                <a:solidFill>
                  <a:srgbClr val="FF4D9D"/>
                </a:solidFill>
                <a:latin typeface="Poppins"/>
              </a:rPr>
              <a:t>Misma API, consumidor nuevo: ambigüedad, errores y capacidades.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77240" y="1170432"/>
            <a:ext cx="1673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4D9D"/>
                </a:solidFill>
                <a:latin typeface="Poppins"/>
              </a:rPr>
              <a:t>QUÉ MONTAMOS Y POR QUÉ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77240" y="1481328"/>
            <a:ext cx="167335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Poppins"/>
              </a:rPr>
              <a:t>TechRiders.AgentDemo</a:t>
            </a:r>
          </a:p>
        </p:txBody>
      </p:sp>
      <p:sp>
        <p:nvSpPr>
          <p:cNvPr id="970" name="Nota 1"/>
          <p:cNvSpPr/>
          <p:nvPr/>
        </p:nvSpPr>
        <p:spPr>
          <a:xfrm>
            <a:off x="594360" y="2788920"/>
            <a:ext cx="5512881" cy="5596128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660" b="1">
                <a:solidFill>
                  <a:srgbClr val="FFFFFF"/>
                </a:solidFill>
                <a:latin typeface="Poppins"/>
              </a:rPr>
              <a:t>Un agente</a:t>
            </a:r>
            <a:br>
              <a:rPr lang="es-ES" sz="3660" b="1">
                <a:solidFill>
                  <a:srgbClr val="FFFFFF"/>
                </a:solidFill>
                <a:latin typeface="Poppins"/>
              </a:rPr>
            </a:br>
            <a:r>
              <a:rPr lang="es-ES" sz="3660" b="1">
                <a:solidFill>
                  <a:srgbClr val="FFFFFF"/>
                </a:solidFill>
                <a:latin typeface="Poppins"/>
              </a:rPr>
              <a:t>para una tarea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170" b="0">
                <a:solidFill>
                  <a:srgbClr val="DCC5FF"/>
                </a:solidFill>
                <a:latin typeface="Poppins"/>
              </a:rPr>
              <a:t>Una aplicación de consola con Microsoft.Extensions.AI recibe un objetivo en lenguaje natural y lo ejecuta contra nuestra API real.</a:t>
            </a:r>
          </a:p>
        </p:txBody>
      </p:sp>
      <p:sp>
        <p:nvSpPr>
          <p:cNvPr id="971" name="Nota 2"/>
          <p:cNvSpPr/>
          <p:nvPr/>
        </p:nvSpPr>
        <p:spPr>
          <a:xfrm>
            <a:off x="6387557" y="2788920"/>
            <a:ext cx="5512881" cy="5596128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660" b="1">
                <a:solidFill>
                  <a:srgbClr val="FFFFFF"/>
                </a:solidFill>
                <a:latin typeface="Poppins"/>
              </a:rPr>
              <a:t>OpenAPI</a:t>
            </a:r>
            <a:br>
              <a:rPr lang="es-ES" sz="3660" b="1">
                <a:solidFill>
                  <a:srgbClr val="FFFFFF"/>
                </a:solidFill>
                <a:latin typeface="Poppins"/>
              </a:rPr>
            </a:br>
            <a:r>
              <a:rPr lang="es-ES" sz="3660" b="1">
                <a:solidFill>
                  <a:srgbClr val="FFFFFF"/>
                </a:solidFill>
                <a:latin typeface="Poppins"/>
              </a:rPr>
              <a:t>como entrada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170" b="0">
                <a:solidFill>
                  <a:srgbClr val="DCC5FF"/>
                </a:solidFill>
                <a:latin typeface="Poppins"/>
              </a:rPr>
              <a:t>El cliente obtiene del documento OpenAPI las operaciones y sus argumentos. Los detalles de ejecución se resuelven con tool calling.</a:t>
            </a:r>
          </a:p>
        </p:txBody>
      </p:sp>
      <p:sp>
        <p:nvSpPr>
          <p:cNvPr id="972" name="Nota 3"/>
          <p:cNvSpPr/>
          <p:nvPr/>
        </p:nvSpPr>
        <p:spPr>
          <a:xfrm>
            <a:off x="12180756" y="2788920"/>
            <a:ext cx="5512881" cy="5596128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660" b="1">
                <a:solidFill>
                  <a:srgbClr val="FFFFFF"/>
                </a:solidFill>
                <a:latin typeface="Poppins"/>
              </a:rPr>
              <a:t>Una prueba</a:t>
            </a:r>
            <a:br>
              <a:rPr lang="es-ES" sz="3660" b="1">
                <a:solidFill>
                  <a:srgbClr val="FFFFFF"/>
                </a:solidFill>
                <a:latin typeface="Poppins"/>
              </a:rPr>
            </a:br>
            <a:r>
              <a:rPr lang="es-ES" sz="3660" b="1">
                <a:solidFill>
                  <a:srgbClr val="FFFFFF"/>
                </a:solidFill>
                <a:latin typeface="Poppins"/>
              </a:rPr>
              <a:t>de claridad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170" b="0">
                <a:solidFill>
                  <a:srgbClr val="DCC5FF"/>
                </a:solidFill>
                <a:latin typeface="Poppins"/>
              </a:rPr>
              <a:t>Las dudas del agente nos ayudan a detectar ambigüedades y carencias en el contrato de nuestra API.</a:t>
            </a:r>
          </a:p>
        </p:txBody>
      </p:sp>
      <p:sp>
        <p:nvSpPr>
          <p:cNvPr id="973" name="Pie"/>
          <p:cNvSpPr txBox="1"/>
          <p:nvPr/>
        </p:nvSpPr>
        <p:spPr>
          <a:xfrm>
            <a:off x="594360" y="8622792"/>
            <a:ext cx="17099280" cy="630936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1939" b="0">
                <a:solidFill>
                  <a:srgbClr val="DCC5FF"/>
                </a:solidFill>
                <a:latin typeface="Consolas"/>
              </a:rPr>
              <a:t>La demo permite observar qué información falta y dónde deja de bastar el contrato.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1" grpId="0" animBg="1"/>
      <p:bldP spid="972" grpId="0" animBg="1"/>
      <p:bldP spid="97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77240" y="1170432"/>
            <a:ext cx="1673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4D9D"/>
                </a:solidFill>
                <a:latin typeface="Poppins"/>
              </a:rPr>
              <a:t>EL CONSUMIDOR HA CAMBIADO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77240" y="1481328"/>
            <a:ext cx="167335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Poppins"/>
              </a:rPr>
              <a:t>Ahora</a:t>
            </a:r>
            <a:r>
              <a:rPr lang="es-ES" sz="4000" b="1">
                <a:solidFill>
                  <a:srgbClr val="FFFFFF"/>
                </a:solidFill>
                <a:latin typeface="Poppins"/>
              </a:rPr>
              <a:t>: el agente consume la API</a:t>
            </a:r>
            <a:endParaRPr sz="4000" b="1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941" name="Cadena 1"/>
          <p:cNvSpPr/>
          <p:nvPr/>
        </p:nvSpPr>
        <p:spPr>
          <a:xfrm>
            <a:off x="921395" y="2788920"/>
            <a:ext cx="5007103" cy="888966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1500" b="1">
                <a:solidFill>
                  <a:srgbClr val="FFFFFF"/>
                </a:solidFill>
                <a:latin typeface="Poppins"/>
              </a:rPr>
              <a:t>Usuario</a:t>
            </a:r>
          </a:p>
        </p:txBody>
      </p:sp>
      <p:sp>
        <p:nvSpPr>
          <p:cNvPr id="942" name="Flecha 1"/>
          <p:cNvSpPr txBox="1"/>
          <p:nvPr/>
        </p:nvSpPr>
        <p:spPr>
          <a:xfrm>
            <a:off x="921715" y="3687030"/>
            <a:ext cx="5007254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1240" b="0">
                <a:solidFill>
                  <a:srgbClr val="FF4D9D"/>
                </a:solidFill>
                <a:latin typeface="Consolas"/>
              </a:rPr>
              <a:t>↓</a:t>
            </a:r>
          </a:p>
        </p:txBody>
      </p:sp>
      <p:sp>
        <p:nvSpPr>
          <p:cNvPr id="943" name="Cadena 2"/>
          <p:cNvSpPr/>
          <p:nvPr/>
        </p:nvSpPr>
        <p:spPr>
          <a:xfrm>
            <a:off x="921395" y="3879924"/>
            <a:ext cx="5007103" cy="888966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1500" b="1">
                <a:solidFill>
                  <a:srgbClr val="FFFFFF"/>
                </a:solidFill>
                <a:latin typeface="Poppins"/>
              </a:rPr>
              <a:t>Agente</a:t>
            </a:r>
          </a:p>
        </p:txBody>
      </p:sp>
      <p:sp>
        <p:nvSpPr>
          <p:cNvPr id="944" name="Flecha 2"/>
          <p:cNvSpPr txBox="1"/>
          <p:nvPr/>
        </p:nvSpPr>
        <p:spPr>
          <a:xfrm>
            <a:off x="921715" y="4778034"/>
            <a:ext cx="5007254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1240" b="0">
                <a:solidFill>
                  <a:srgbClr val="FF4D9D"/>
                </a:solidFill>
                <a:latin typeface="Consolas"/>
              </a:rPr>
              <a:t>↓</a:t>
            </a:r>
          </a:p>
        </p:txBody>
      </p:sp>
      <p:sp>
        <p:nvSpPr>
          <p:cNvPr id="945" name="Cadena 3"/>
          <p:cNvSpPr/>
          <p:nvPr/>
        </p:nvSpPr>
        <p:spPr>
          <a:xfrm>
            <a:off x="921395" y="4970929"/>
            <a:ext cx="5007103" cy="888966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1500" b="1">
                <a:solidFill>
                  <a:srgbClr val="FFFFFF"/>
                </a:solidFill>
                <a:latin typeface="Poppins"/>
              </a:rPr>
              <a:t>REST API</a:t>
            </a:r>
          </a:p>
        </p:txBody>
      </p:sp>
      <p:sp>
        <p:nvSpPr>
          <p:cNvPr id="946" name="Flecha 3"/>
          <p:cNvSpPr txBox="1"/>
          <p:nvPr/>
        </p:nvSpPr>
        <p:spPr>
          <a:xfrm>
            <a:off x="921715" y="5869039"/>
            <a:ext cx="5007254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1240" b="0">
                <a:solidFill>
                  <a:srgbClr val="FF4D9D"/>
                </a:solidFill>
                <a:latin typeface="Consolas"/>
              </a:rPr>
              <a:t>↓</a:t>
            </a:r>
          </a:p>
        </p:txBody>
      </p:sp>
      <p:sp>
        <p:nvSpPr>
          <p:cNvPr id="947" name="Cadena 4"/>
          <p:cNvSpPr/>
          <p:nvPr/>
        </p:nvSpPr>
        <p:spPr>
          <a:xfrm>
            <a:off x="921395" y="6061933"/>
            <a:ext cx="5007103" cy="888966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1500" b="1">
                <a:solidFill>
                  <a:srgbClr val="FFFFFF"/>
                </a:solidFill>
                <a:latin typeface="Poppins"/>
              </a:rPr>
              <a:t>Application</a:t>
            </a:r>
          </a:p>
        </p:txBody>
      </p:sp>
      <p:sp>
        <p:nvSpPr>
          <p:cNvPr id="948" name="Flecha 4"/>
          <p:cNvSpPr txBox="1"/>
          <p:nvPr/>
        </p:nvSpPr>
        <p:spPr>
          <a:xfrm>
            <a:off x="921715" y="6960043"/>
            <a:ext cx="5007254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1240" b="0">
                <a:solidFill>
                  <a:srgbClr val="FF4D9D"/>
                </a:solidFill>
                <a:latin typeface="Consolas"/>
              </a:rPr>
              <a:t>↓</a:t>
            </a:r>
          </a:p>
        </p:txBody>
      </p:sp>
      <p:sp>
        <p:nvSpPr>
          <p:cNvPr id="949" name="Cadena 5"/>
          <p:cNvSpPr/>
          <p:nvPr/>
        </p:nvSpPr>
        <p:spPr>
          <a:xfrm>
            <a:off x="921395" y="7152938"/>
            <a:ext cx="5007103" cy="888966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1500" b="1">
                <a:solidFill>
                  <a:srgbClr val="FFFFFF"/>
                </a:solidFill>
                <a:latin typeface="Poppins"/>
              </a:rPr>
              <a:t>Domain</a:t>
            </a:r>
          </a:p>
        </p:txBody>
      </p:sp>
      <p:sp>
        <p:nvSpPr>
          <p:cNvPr id="950" name="Nota 1"/>
          <p:cNvSpPr/>
          <p:nvPr/>
        </p:nvSpPr>
        <p:spPr>
          <a:xfrm>
            <a:off x="6646579" y="2788920"/>
            <a:ext cx="10720066" cy="1616505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1910" b="1">
                <a:solidFill>
                  <a:srgbClr val="FFFFFF"/>
                </a:solidFill>
                <a:latin typeface="Poppins"/>
              </a:rPr>
              <a:t>El agente decide el recorrido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1650" b="0">
                <a:solidFill>
                  <a:srgbClr val="DCC5FF"/>
                </a:solidFill>
                <a:latin typeface="Poppins"/>
              </a:rPr>
              <a:t>Descubre, interpreta, decide, ejecuta y reintenta. Nadie le ha programado el orden de las llamadas ni los valores correctos.</a:t>
            </a:r>
          </a:p>
        </p:txBody>
      </p:sp>
      <p:sp>
        <p:nvSpPr>
          <p:cNvPr id="951" name="Nota 2"/>
          <p:cNvSpPr/>
          <p:nvPr/>
        </p:nvSpPr>
        <p:spPr>
          <a:xfrm>
            <a:off x="6646579" y="4607462"/>
            <a:ext cx="10720066" cy="1616505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1910" b="1">
                <a:solidFill>
                  <a:srgbClr val="FFFFFF"/>
                </a:solidFill>
                <a:latin typeface="Poppins"/>
              </a:rPr>
              <a:t>No hay interfaz que le ayude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1650" b="0">
                <a:solidFill>
                  <a:srgbClr val="DCC5FF"/>
                </a:solidFill>
                <a:latin typeface="Poppins"/>
              </a:rPr>
              <a:t>Ni formularios que validen, ni desplegables que limiten opciones. Lo único que recibe es el contrato y la respuesta.</a:t>
            </a:r>
          </a:p>
        </p:txBody>
      </p:sp>
      <p:sp>
        <p:nvSpPr>
          <p:cNvPr id="952" name="Nota 3"/>
          <p:cNvSpPr/>
          <p:nvPr/>
        </p:nvSpPr>
        <p:spPr>
          <a:xfrm>
            <a:off x="6646579" y="6426005"/>
            <a:ext cx="10720066" cy="1616505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1910" b="1">
                <a:solidFill>
                  <a:srgbClr val="FFFFFF"/>
                </a:solidFill>
                <a:latin typeface="Poppins"/>
              </a:rPr>
              <a:t>El contexto debe estar publicado</a:t>
            </a:r>
            <a:endParaRPr lang="es-ES" sz="1900" b="1">
              <a:solidFill>
                <a:srgbClr val="FFFFFF"/>
              </a:solidFill>
              <a:latin typeface="Poppins"/>
            </a:endParaRP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1650" b="0">
                <a:solidFill>
                  <a:srgbClr val="DCC5FF"/>
                </a:solidFill>
                <a:latin typeface="Poppins"/>
              </a:rPr>
              <a:t>El agente necesita información en el contrato y las respuestas. El funcional, el Figma y los tickets no llegan con la petición.</a:t>
            </a:r>
          </a:p>
        </p:txBody>
      </p:sp>
      <p:sp>
        <p:nvSpPr>
          <p:cNvPr id="953" name="Pie"/>
          <p:cNvSpPr txBox="1"/>
          <p:nvPr/>
        </p:nvSpPr>
        <p:spPr>
          <a:xfrm>
            <a:off x="594360" y="8622792"/>
            <a:ext cx="17099280" cy="630936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840" b="0">
                <a:solidFill>
                  <a:srgbClr val="DCC5FF"/>
                </a:solidFill>
                <a:latin typeface="Consolas"/>
              </a:rPr>
              <a:t>Puede ser técnicamente correcta y aun así no decir lo suficiente para usarse bien.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1" grpId="0" animBg="1"/>
      <p:bldP spid="942" grpId="0"/>
      <p:bldP spid="943" grpId="0" animBg="1"/>
      <p:bldP spid="944" grpId="0"/>
      <p:bldP spid="945" grpId="0" animBg="1"/>
      <p:bldP spid="946" grpId="0"/>
      <p:bldP spid="947" grpId="0" animBg="1"/>
      <p:bldP spid="948" grpId="0"/>
      <p:bldP spid="949" grpId="0" animBg="1"/>
      <p:bldP spid="950" grpId="0" animBg="1"/>
      <p:bldP spid="951" grpId="0" animBg="1"/>
      <p:bldP spid="952" grpId="0" animBg="1"/>
      <p:bldP spid="95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77240" y="1170432"/>
            <a:ext cx="1673352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s-ES" sz="1600" b="1">
                <a:solidFill>
                  <a:srgbClr val="FF4D9D"/>
                </a:solidFill>
                <a:latin typeface="Poppins"/>
              </a:rPr>
              <a:t>EL AGENTE COMO CONSUMIDOR</a:t>
            </a:r>
            <a:endParaRPr sz="1600" b="1">
              <a:solidFill>
                <a:srgbClr val="FF4D9D"/>
              </a:solidFill>
              <a:latin typeface="Poppins"/>
            </a:endParaRPr>
          </a:p>
        </p:txBody>
      </p:sp>
      <p:sp>
        <p:nvSpPr>
          <p:cNvPr id="216" name="TextBox 215"/>
          <p:cNvSpPr txBox="1"/>
          <p:nvPr/>
        </p:nvSpPr>
        <p:spPr>
          <a:xfrm>
            <a:off x="777240" y="1481328"/>
            <a:ext cx="167335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s-ES" sz="4000" b="1">
                <a:solidFill>
                  <a:srgbClr val="FFFFFF"/>
                </a:solidFill>
                <a:latin typeface="Poppins"/>
              </a:rPr>
              <a:t>Una API convencional ante un agente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594360" y="2788920"/>
            <a:ext cx="5577137" cy="6464808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411480" rIns="210312" bIns="274320" rtlCol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988" b="1">
                <a:solidFill>
                  <a:srgbClr val="FFFFFF"/>
                </a:solidFill>
                <a:latin typeface="Poppins"/>
              </a:rPr>
              <a:t>Accesible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954" b="1">
                <a:solidFill>
                  <a:srgbClr val="DCC5FF"/>
                </a:solidFill>
                <a:latin typeface="Poppins"/>
              </a:rPr>
              <a:t>El agente puede llamar a la API.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772" b="0">
                <a:solidFill>
                  <a:srgbClr val="DCC5FF"/>
                </a:solidFill>
                <a:latin typeface="Poppins"/>
              </a:rPr>
              <a:t>Envía peticiones HTTP a los endpoints y se autentica con las credenciales necesarias.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514" b="0">
                <a:solidFill>
                  <a:srgbClr val="FF4D9D"/>
                </a:solidFill>
                <a:latin typeface="Poppins"/>
              </a:rPr>
              <a:t>Puede llamar, pero eso no garantiza que sepa usarla.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6355431" y="2788920"/>
            <a:ext cx="5577137" cy="6464808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411480" rIns="210312" bIns="274320" rtlCol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738" b="1">
                <a:solidFill>
                  <a:srgbClr val="FFFFFF"/>
                </a:solidFill>
                <a:latin typeface="Poppins"/>
              </a:rPr>
              <a:t>Comprensible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705" b="1">
                <a:solidFill>
                  <a:srgbClr val="DCC5FF"/>
                </a:solidFill>
                <a:latin typeface="Poppins"/>
              </a:rPr>
              <a:t>El agente entiende cómo usar la API.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539" b="0">
                <a:solidFill>
                  <a:srgbClr val="DCC5FF"/>
                </a:solidFill>
                <a:latin typeface="Poppins"/>
              </a:rPr>
              <a:t>Lee el contrato para saber qué operaciones hay, qué datos enviar y cómo interpretar los errores.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307" b="0">
                <a:solidFill>
                  <a:srgbClr val="FF4D9D"/>
                </a:solidFill>
                <a:latin typeface="Poppins"/>
              </a:rPr>
              <a:t>Depende del contrato y las respuestas para decidir cómo continuar.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12116502" y="2788920"/>
            <a:ext cx="5577137" cy="6464808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411480" rIns="210312" bIns="274320" rtlCol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738" b="1">
                <a:solidFill>
                  <a:srgbClr val="FFFFFF"/>
                </a:solidFill>
                <a:latin typeface="Poppins"/>
              </a:rPr>
              <a:t>Segura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573" b="1">
                <a:solidFill>
                  <a:srgbClr val="DCC5FF"/>
                </a:solidFill>
                <a:latin typeface="Poppins"/>
              </a:rPr>
              <a:t>La API controla qué puede hacer el agente.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415" b="0">
                <a:solidFill>
                  <a:srgbClr val="DCC5FF"/>
                </a:solidFill>
                <a:latin typeface="Poppins"/>
              </a:rPr>
              <a:t>Comprueba sus permisos. Los efectos deben quedar claros y las acciones irreversibles requieren confirmación.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191" b="0">
                <a:solidFill>
                  <a:srgbClr val="FF4D9D"/>
                </a:solidFill>
                <a:latin typeface="Poppins"/>
              </a:rPr>
              <a:t>Poder llamar a una operación no significa tener permiso para ejecutarla.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" grpId="0" animBg="1"/>
      <p:bldP spid="2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77240" y="1170432"/>
            <a:ext cx="1673352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s-ES" sz="1600" b="1">
                <a:solidFill>
                  <a:srgbClr val="FF4D9D"/>
                </a:solidFill>
                <a:latin typeface="Poppins"/>
              </a:rPr>
              <a:t>EL OBJETIVO QUE LE DAMOS</a:t>
            </a:r>
            <a:endParaRPr sz="1600" b="1">
              <a:solidFill>
                <a:srgbClr val="FF4D9D"/>
              </a:solidFill>
              <a:latin typeface="Poppins"/>
            </a:endParaRPr>
          </a:p>
        </p:txBody>
      </p:sp>
      <p:sp>
        <p:nvSpPr>
          <p:cNvPr id="216" name="TextBox 215"/>
          <p:cNvSpPr txBox="1"/>
          <p:nvPr/>
        </p:nvSpPr>
        <p:spPr>
          <a:xfrm>
            <a:off x="777240" y="1481328"/>
            <a:ext cx="16733520" cy="19082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Poppins"/>
              </a:rPr>
              <a:t>Busca los </a:t>
            </a:r>
            <a:r>
              <a:rPr lang="es-ES" sz="3800" b="1">
                <a:solidFill>
                  <a:srgbClr val="FFFFFF"/>
                </a:solidFill>
                <a:latin typeface="Poppins"/>
              </a:rPr>
              <a:t>eventos</a:t>
            </a:r>
            <a:r>
              <a:rPr sz="3800" b="1">
                <a:solidFill>
                  <a:srgbClr val="FFFFFF"/>
                </a:solidFill>
                <a:latin typeface="Poppins"/>
              </a:rPr>
              <a:t> pendientes de </a:t>
            </a:r>
            <a:r>
              <a:rPr lang="es-ES" sz="3800" b="1">
                <a:solidFill>
                  <a:srgbClr val="FFFFFF"/>
                </a:solidFill>
                <a:latin typeface="Poppins"/>
              </a:rPr>
              <a:t>Tech Riders.
Dime </a:t>
            </a:r>
            <a:r>
              <a:rPr sz="3800" b="1">
                <a:solidFill>
                  <a:srgbClr val="FFFFFF"/>
                </a:solidFill>
                <a:latin typeface="Poppins"/>
              </a:rPr>
              <a:t>cuál </a:t>
            </a:r>
            <a:r>
              <a:rPr lang="es-ES" sz="3800" b="1">
                <a:solidFill>
                  <a:srgbClr val="FFFFFF"/>
                </a:solidFill>
                <a:latin typeface="Poppins"/>
              </a:rPr>
              <a:t>conviene </a:t>
            </a:r>
            <a:r>
              <a:rPr sz="3800" b="1">
                <a:solidFill>
                  <a:srgbClr val="FFFFFF"/>
                </a:solidFill>
                <a:latin typeface="Poppins"/>
              </a:rPr>
              <a:t>revisar primero
y cancélalo si </a:t>
            </a:r>
            <a:r>
              <a:rPr lang="es-ES" sz="3800" b="1">
                <a:solidFill>
                  <a:srgbClr val="FFFFFF"/>
                </a:solidFill>
                <a:latin typeface="Poppins"/>
              </a:rPr>
              <a:t>es un</a:t>
            </a:r>
            <a:r>
              <a:rPr sz="3800" b="1">
                <a:solidFill>
                  <a:srgbClr val="FFFFFF"/>
                </a:solidFill>
                <a:latin typeface="Poppins"/>
              </a:rPr>
              <a:t> duplicado.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594360" y="7813256"/>
            <a:ext cx="17099280" cy="1440471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921395" y="8173374"/>
            <a:ext cx="16459200" cy="501548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000" b="0">
                <a:solidFill>
                  <a:srgbClr val="DCC5FF"/>
                </a:solidFill>
                <a:latin typeface="Consolas"/>
              </a:rPr>
              <a:t>La misión se mantiene al mejorar REST y al publicar las capacidades con MCP.</a:t>
            </a:r>
            <a:endParaRPr lang="es-ES" sz="2000" b="0">
              <a:solidFill>
                <a:srgbClr val="C79DFF"/>
              </a:solidFill>
              <a:latin typeface="Consolas"/>
            </a:endParaRPr>
          </a:p>
        </p:txBody>
      </p:sp>
      <p:sp>
        <p:nvSpPr>
          <p:cNvPr id="2" name="Rounded Rectangle 216"/>
          <p:cNvSpPr/>
          <p:nvPr/>
        </p:nvSpPr>
        <p:spPr>
          <a:xfrm>
            <a:off x="594360" y="4156624"/>
            <a:ext cx="5512881" cy="2400786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850" b="1">
                <a:solidFill>
                  <a:srgbClr val="FF4D9D"/>
                </a:solidFill>
                <a:latin typeface="Poppins"/>
              </a:rPr>
              <a:t>Operaciones</a:t>
            </a:r>
            <a:br>
              <a:rPr lang="es-ES" sz="2850" b="1">
                <a:solidFill>
                  <a:srgbClr val="FF4D9D"/>
                </a:solidFill>
                <a:latin typeface="Poppins"/>
              </a:rPr>
            </a:br>
            <a:r>
              <a:rPr lang="es-ES" sz="2850" b="1">
                <a:solidFill>
                  <a:srgbClr val="FF4D9D"/>
                </a:solidFill>
                <a:latin typeface="Poppins"/>
              </a:rPr>
              <a:t>disponibles</a:t>
            </a:r>
          </a:p>
          <a:p>
            <a:pPr algn="ctr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400" b="0">
                <a:solidFill>
                  <a:srgbClr val="D9D9D9"/>
                </a:solidFill>
                <a:latin typeface="Poppins"/>
              </a:rPr>
              <a:t>OpenAPI aporta las rutas y los argumentos que puede usar el agente.</a:t>
            </a:r>
          </a:p>
        </p:txBody>
      </p:sp>
      <p:sp>
        <p:nvSpPr>
          <p:cNvPr id="3" name="Rounded Rectangle 216"/>
          <p:cNvSpPr/>
          <p:nvPr/>
        </p:nvSpPr>
        <p:spPr>
          <a:xfrm>
            <a:off x="6387557" y="4156624"/>
            <a:ext cx="5512881" cy="2400786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770" b="1">
                <a:solidFill>
                  <a:srgbClr val="FF4D9D"/>
                </a:solidFill>
                <a:latin typeface="Poppins"/>
              </a:rPr>
              <a:t>Resuelve el</a:t>
            </a:r>
            <a:br>
              <a:rPr lang="es-ES" sz="2770" b="1">
                <a:solidFill>
                  <a:srgbClr val="FF4D9D"/>
                </a:solidFill>
                <a:latin typeface="Poppins"/>
              </a:rPr>
            </a:br>
            <a:r>
              <a:rPr lang="es-ES" sz="2770" b="1">
                <a:solidFill>
                  <a:srgbClr val="FF4D9D"/>
                </a:solidFill>
                <a:latin typeface="Poppins"/>
              </a:rPr>
              <a:t>identificador</a:t>
            </a:r>
            <a:endParaRPr lang="es-ES" sz="2400" b="1">
              <a:solidFill>
                <a:srgbClr val="FF4D9D"/>
              </a:solidFill>
              <a:latin typeface="Poppins"/>
            </a:endParaRPr>
          </a:p>
          <a:p>
            <a:pPr algn="ctr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400" b="0">
                <a:solidFill>
                  <a:srgbClr val="D9D9D9"/>
                </a:solidFill>
                <a:latin typeface="Poppins"/>
              </a:rPr>
              <a:t>Relaciona el nombre «Tech Riders» con su identificador en la API: org-techriders.</a:t>
            </a:r>
          </a:p>
        </p:txBody>
      </p:sp>
      <p:sp>
        <p:nvSpPr>
          <p:cNvPr id="4" name="Rounded Rectangle 216"/>
          <p:cNvSpPr/>
          <p:nvPr/>
        </p:nvSpPr>
        <p:spPr>
          <a:xfrm>
            <a:off x="12180756" y="4156624"/>
            <a:ext cx="5512881" cy="2400786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850" b="1">
                <a:solidFill>
                  <a:srgbClr val="FF4D9D"/>
                </a:solidFill>
                <a:latin typeface="Poppins"/>
              </a:rPr>
              <a:t>Decisión con</a:t>
            </a:r>
            <a:br>
              <a:rPr lang="es-ES" sz="2850" b="1">
                <a:solidFill>
                  <a:srgbClr val="FF4D9D"/>
                </a:solidFill>
                <a:latin typeface="Poppins"/>
              </a:rPr>
            </a:br>
            <a:r>
              <a:rPr lang="es-ES" sz="2850" b="1">
                <a:solidFill>
                  <a:srgbClr val="FF4D9D"/>
                </a:solidFill>
                <a:latin typeface="Poppins"/>
              </a:rPr>
              <a:t>evidencia</a:t>
            </a:r>
            <a:endParaRPr lang="es-ES" sz="2400" b="1">
              <a:solidFill>
                <a:srgbClr val="FF4D9D"/>
              </a:solidFill>
              <a:latin typeface="Poppins"/>
            </a:endParaRPr>
          </a:p>
          <a:p>
            <a:pPr algn="ctr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400" b="0">
                <a:solidFill>
                  <a:srgbClr val="D9D9D9"/>
                </a:solidFill>
                <a:latin typeface="Poppins"/>
              </a:rPr>
              <a:t>La API debe aportar datos que permitan justificar la revisión y la cancelación.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" grpId="0" animBg="1"/>
      <p:bldP spid="218" grpId="0"/>
      <p:bldP spid="2" grpId="0" animBg="1"/>
      <p:bldP spid="3" grpId="0" animBg="1"/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77240" y="1170432"/>
            <a:ext cx="1673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4D9D"/>
                </a:solidFill>
                <a:latin typeface="Poppins"/>
              </a:rPr>
              <a:t>CONCEPTO NUEVO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77240" y="1481328"/>
            <a:ext cx="167335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s-ES" sz="4000" b="1">
                <a:solidFill>
                  <a:srgbClr val="FFFFFF"/>
                </a:solidFill>
                <a:latin typeface="Poppins"/>
              </a:rPr>
              <a:t>El ciclo de tool </a:t>
            </a:r>
            <a:r>
              <a:rPr sz="4000" b="1">
                <a:solidFill>
                  <a:srgbClr val="FFFFFF"/>
                </a:solidFill>
                <a:latin typeface="Poppins"/>
              </a:rPr>
              <a:t>calling</a:t>
            </a:r>
          </a:p>
        </p:txBody>
      </p:sp>
      <p:sp>
        <p:nvSpPr>
          <p:cNvPr id="970" name="Nota 1"/>
          <p:cNvSpPr/>
          <p:nvPr/>
        </p:nvSpPr>
        <p:spPr>
          <a:xfrm>
            <a:off x="594360" y="2788920"/>
            <a:ext cx="5512881" cy="5596128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660" b="1">
                <a:solidFill>
                  <a:srgbClr val="FFFFFF"/>
                </a:solidFill>
                <a:latin typeface="Poppins"/>
              </a:rPr>
              <a:t>El modelo no</a:t>
            </a:r>
            <a:br>
              <a:rPr lang="es-ES" sz="3660" b="1">
                <a:solidFill>
                  <a:srgbClr val="FFFFFF"/>
                </a:solidFill>
                <a:latin typeface="Poppins"/>
              </a:rPr>
            </a:br>
            <a:r>
              <a:rPr lang="es-ES" sz="3660" b="1">
                <a:solidFill>
                  <a:srgbClr val="FFFFFF"/>
                </a:solidFill>
                <a:latin typeface="Poppins"/>
              </a:rPr>
              <a:t>llama a tu API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170" b="0">
                <a:solidFill>
                  <a:srgbClr val="DCC5FF"/>
                </a:solidFill>
                <a:latin typeface="Poppins"/>
              </a:rPr>
              <a:t>Propone una llamada: qué operación y con qué argumentos. Es una intención, no una ejecución.</a:t>
            </a:r>
          </a:p>
        </p:txBody>
      </p:sp>
      <p:sp>
        <p:nvSpPr>
          <p:cNvPr id="971" name="Nota 2"/>
          <p:cNvSpPr/>
          <p:nvPr/>
        </p:nvSpPr>
        <p:spPr>
          <a:xfrm>
            <a:off x="6387557" y="2788920"/>
            <a:ext cx="5512881" cy="5596128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520" b="1">
                <a:solidFill>
                  <a:srgbClr val="FFFFFF"/>
                </a:solidFill>
                <a:latin typeface="Poppins"/>
              </a:rPr>
              <a:t>Tu código ejecuta</a:t>
            </a:r>
            <a:br>
              <a:rPr lang="es-ES" sz="3660" b="1">
                <a:solidFill>
                  <a:srgbClr val="FFFFFF"/>
                </a:solidFill>
                <a:latin typeface="Poppins"/>
              </a:rPr>
            </a:br>
            <a:r>
              <a:rPr lang="es-ES" sz="3520" b="1">
                <a:solidFill>
                  <a:srgbClr val="FFFFFF"/>
                </a:solidFill>
                <a:latin typeface="Poppins"/>
              </a:rPr>
              <a:t>y responde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170" b="0">
                <a:solidFill>
                  <a:srgbClr val="DCC5FF"/>
                </a:solidFill>
                <a:latin typeface="Poppins"/>
              </a:rPr>
              <a:t>Tú decides si esa llamada se hace. El resultado vuelve al modelo como contexto para el siguiente paso.</a:t>
            </a:r>
          </a:p>
        </p:txBody>
      </p:sp>
      <p:sp>
        <p:nvSpPr>
          <p:cNvPr id="972" name="Nota 3"/>
          <p:cNvSpPr/>
          <p:nvPr/>
        </p:nvSpPr>
        <p:spPr>
          <a:xfrm>
            <a:off x="12180756" y="2788920"/>
            <a:ext cx="5512881" cy="5596128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660" b="1">
                <a:solidFill>
                  <a:srgbClr val="FFFFFF"/>
                </a:solidFill>
                <a:latin typeface="Poppins"/>
              </a:rPr>
              <a:t>El contrato</a:t>
            </a:r>
            <a:br>
              <a:rPr lang="es-ES" sz="3660" b="1">
                <a:solidFill>
                  <a:srgbClr val="FFFFFF"/>
                </a:solidFill>
                <a:latin typeface="Poppins"/>
              </a:rPr>
            </a:br>
            <a:r>
              <a:rPr lang="es-ES" sz="3660" b="1">
                <a:solidFill>
                  <a:srgbClr val="FFFFFF"/>
                </a:solidFill>
                <a:latin typeface="Poppins"/>
              </a:rPr>
              <a:t>de la función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170" b="0">
                <a:solidFill>
                  <a:srgbClr val="DCC5FF"/>
                </a:solidFill>
                <a:latin typeface="Poppins"/>
              </a:rPr>
              <a:t>El modelo recibe nombre, descripción y esquema de argumentos, junto con el contexto de la conversación y los resultados anteriores.</a:t>
            </a:r>
          </a:p>
        </p:txBody>
      </p:sp>
      <p:sp>
        <p:nvSpPr>
          <p:cNvPr id="973" name="Pie"/>
          <p:cNvSpPr txBox="1"/>
          <p:nvPr/>
        </p:nvSpPr>
        <p:spPr>
          <a:xfrm>
            <a:off x="594360" y="8622792"/>
            <a:ext cx="17099280" cy="630936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900" b="0">
                <a:solidFill>
                  <a:srgbClr val="DCC5FF"/>
                </a:solidFill>
                <a:latin typeface="Consolas"/>
              </a:rPr>
              <a:t>Por eso el contrato deja de ser documentación y pasa a ser funcionalidad.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1" grpId="0" animBg="1"/>
      <p:bldP spid="972" grpId="0" animBg="1"/>
      <p:bldP spid="97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77240" y="1170432"/>
            <a:ext cx="1673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4D9D"/>
                </a:solidFill>
                <a:latin typeface="Poppins"/>
              </a:rPr>
              <a:t>CÓMO LO MONTAMOS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77240" y="1481328"/>
            <a:ext cx="167335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Poppins"/>
              </a:rPr>
              <a:t>Microsoft.Extensions.AI y OpenAPI</a:t>
            </a:r>
          </a:p>
        </p:txBody>
      </p:sp>
      <p:sp>
        <p:nvSpPr>
          <p:cNvPr id="970" name="Nota 1"/>
          <p:cNvSpPr/>
          <p:nvPr/>
        </p:nvSpPr>
        <p:spPr>
          <a:xfrm>
            <a:off x="594360" y="2788920"/>
            <a:ext cx="5512881" cy="5596128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660" b="1">
                <a:solidFill>
                  <a:srgbClr val="FFFFFF"/>
                </a:solidFill>
                <a:latin typeface="Poppins"/>
              </a:rPr>
              <a:t>IChatClient</a:t>
            </a:r>
            <a:br>
              <a:rPr lang="es-ES" sz="3660" b="1">
                <a:solidFill>
                  <a:srgbClr val="FFFFFF"/>
                </a:solidFill>
                <a:latin typeface="Poppins"/>
              </a:rPr>
            </a:br>
            <a:r>
              <a:rPr lang="es-ES" sz="3660" b="1">
                <a:solidFill>
                  <a:srgbClr val="FFFFFF"/>
                </a:solidFill>
                <a:latin typeface="Poppins"/>
              </a:rPr>
              <a:t>y tool calling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170" b="0">
                <a:solidFill>
                  <a:srgbClr val="DCC5FF"/>
                </a:solidFill>
                <a:latin typeface="Poppins"/>
              </a:rPr>
              <a:t>Una abstracción común sobre el proveedor de modelo. Las operaciones se registran como funciones invocables.</a:t>
            </a:r>
          </a:p>
        </p:txBody>
      </p:sp>
      <p:sp>
        <p:nvSpPr>
          <p:cNvPr id="971" name="Nota 2"/>
          <p:cNvSpPr/>
          <p:nvPr/>
        </p:nvSpPr>
        <p:spPr>
          <a:xfrm>
            <a:off x="6387557" y="2788920"/>
            <a:ext cx="5512881" cy="5596128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660" b="1">
                <a:solidFill>
                  <a:srgbClr val="FFFFFF"/>
                </a:solidFill>
                <a:latin typeface="Poppins"/>
              </a:rPr>
              <a:t>OpenAPI como</a:t>
            </a:r>
            <a:br>
              <a:rPr lang="es-ES" sz="3660" b="1">
                <a:solidFill>
                  <a:srgbClr val="FFFFFF"/>
                </a:solidFill>
                <a:latin typeface="Poppins"/>
              </a:rPr>
            </a:br>
            <a:r>
              <a:rPr lang="es-ES" sz="3660" b="1">
                <a:solidFill>
                  <a:srgbClr val="FFFFFF"/>
                </a:solidFill>
                <a:latin typeface="Poppins"/>
              </a:rPr>
              <a:t>catálogo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170" b="0">
                <a:solidFill>
                  <a:srgbClr val="DCC5FF"/>
                </a:solidFill>
                <a:latin typeface="Poppins"/>
              </a:rPr>
              <a:t>El documento que ya publica la API se convierte en la lista de operaciones que el agente puede intentar.</a:t>
            </a:r>
          </a:p>
        </p:txBody>
      </p:sp>
      <p:sp>
        <p:nvSpPr>
          <p:cNvPr id="972" name="Nota 3"/>
          <p:cNvSpPr/>
          <p:nvPr/>
        </p:nvSpPr>
        <p:spPr>
          <a:xfrm>
            <a:off x="12180756" y="2788920"/>
            <a:ext cx="5512881" cy="5596128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660" b="1">
                <a:solidFill>
                  <a:srgbClr val="FFFFFF"/>
                </a:solidFill>
                <a:latin typeface="Poppins"/>
              </a:rPr>
              <a:t>Un cliente</a:t>
            </a:r>
            <a:br>
              <a:rPr lang="es-ES" sz="3660" b="1">
                <a:solidFill>
                  <a:srgbClr val="FFFFFF"/>
                </a:solidFill>
                <a:latin typeface="Poppins"/>
              </a:rPr>
            </a:br>
            <a:r>
              <a:rPr lang="es-ES" sz="3660" b="1">
                <a:solidFill>
                  <a:srgbClr val="FFFFFF"/>
                </a:solidFill>
                <a:latin typeface="Poppins"/>
              </a:rPr>
              <a:t>pequeño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170" b="0">
                <a:solidFill>
                  <a:srgbClr val="DCC5FF"/>
                </a:solidFill>
                <a:latin typeface="Poppins"/>
              </a:rPr>
              <a:t>Para esta demo usamos IChatClient y funciones invocables. La coordinación entre agentes y los workflows quedan fuera del alcance.</a:t>
            </a:r>
          </a:p>
        </p:txBody>
      </p:sp>
      <p:sp>
        <p:nvSpPr>
          <p:cNvPr id="973" name="Pie"/>
          <p:cNvSpPr txBox="1"/>
          <p:nvPr/>
        </p:nvSpPr>
        <p:spPr>
          <a:xfrm>
            <a:off x="594360" y="8622792"/>
            <a:ext cx="17099280" cy="630936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900" b="0">
                <a:solidFill>
                  <a:srgbClr val="DCC5FF"/>
                </a:solidFill>
                <a:latin typeface="Consolas"/>
              </a:rPr>
              <a:t>Nada de esto toca Application ni Domain: el cambio vive entero en el cliente.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1" grpId="0" animBg="1"/>
      <p:bldP spid="972" grpId="0" animBg="1"/>
      <p:bldP spid="97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5" name="Consolidated 215"/>
          <p:cNvSpPr txBox="1"/>
          <p:nvPr/>
        </p:nvSpPr>
        <p:spPr>
          <a:xfrm>
            <a:off x="777240" y="1170432"/>
            <a:ext cx="1673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4D9D"/>
                </a:solidFill>
                <a:latin typeface="Poppins"/>
              </a:rPr>
              <a:t>ARQUITECTURA DE LA DEMO</a:t>
            </a:r>
          </a:p>
        </p:txBody>
      </p:sp>
      <p:sp>
        <p:nvSpPr>
          <p:cNvPr id="216" name="Consolidated 216"/>
          <p:cNvSpPr txBox="1"/>
          <p:nvPr/>
        </p:nvSpPr>
        <p:spPr>
          <a:xfrm>
            <a:off x="777240" y="1481328"/>
            <a:ext cx="167335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Poppins"/>
              </a:rPr>
              <a:t>AgentDemo sobre OpenAPI y HTTP</a:t>
            </a:r>
          </a:p>
        </p:txBody>
      </p:sp>
      <p:sp>
        <p:nvSpPr>
          <p:cNvPr id="218" name="Consolidated 218"/>
          <p:cNvSpPr txBox="1"/>
          <p:nvPr/>
        </p:nvSpPr>
        <p:spPr>
          <a:xfrm>
            <a:off x="921395" y="2788920"/>
            <a:ext cx="8596359" cy="5141151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000">
                <a:solidFill>
                  <a:srgbClr val="DCC5FF"/>
                </a:solidFill>
                <a:latin typeface="Consolas"/>
              </a:rPr>
              <a:t>Usuario</a:t>
            </a:r>
          </a:p>
          <a:p>
            <a:pPr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000">
                <a:solidFill>
                  <a:srgbClr val="DCC5FF"/>
                </a:solidFill>
                <a:latin typeface="Consolas"/>
              </a:rPr>
              <a:t>    TechRiders.AgentDemo</a:t>
            </a:r>
          </a:p>
          <a:p>
            <a:pPr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000">
                <a:solidFill>
                  <a:srgbClr val="DCC5FF"/>
                </a:solidFill>
                <a:latin typeface="Consolas"/>
              </a:rPr>
              <a:t>    Microsoft.Extensions.AI</a:t>
            </a:r>
          </a:p>
          <a:p>
            <a:pPr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000">
                <a:solidFill>
                  <a:srgbClr val="DCC5FF"/>
                </a:solidFill>
                <a:latin typeface="Consolas"/>
              </a:rPr>
              <a:t>    OpenAPI + HTTP</a:t>
            </a:r>
          </a:p>
          <a:p>
            <a:pPr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000">
                <a:solidFill>
                  <a:srgbClr val="DCC5FF"/>
                </a:solidFill>
                <a:latin typeface="Consolas"/>
              </a:rPr>
              <a:t>    TechRiders.Api</a:t>
            </a:r>
          </a:p>
          <a:p>
            <a:pPr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000">
                <a:solidFill>
                  <a:srgbClr val="DCC5FF"/>
                </a:solidFill>
                <a:latin typeface="Consolas"/>
              </a:rPr>
              <a:t>    Application</a:t>
            </a:r>
            <a:endParaRPr lang="es-ES" sz="2000">
              <a:solidFill>
                <a:srgbClr val="C79DFF"/>
              </a:solidFill>
              <a:latin typeface="Consolas"/>
            </a:endParaRPr>
          </a:p>
          <a:p>
            <a:pPr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000">
                <a:solidFill>
                  <a:srgbClr val="DCC5FF"/>
                </a:solidFill>
                <a:latin typeface="Consolas"/>
              </a:rPr>
              <a:t>    Domain e Infrastructure</a:t>
            </a:r>
          </a:p>
        </p:txBody>
      </p:sp>
      <p:sp>
        <p:nvSpPr>
          <p:cNvPr id="219" name="Consolidated 219"/>
          <p:cNvSpPr txBox="1"/>
          <p:nvPr/>
        </p:nvSpPr>
        <p:spPr>
          <a:xfrm>
            <a:off x="10265264" y="2788920"/>
            <a:ext cx="7428375" cy="5478231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850" b="1">
                <a:solidFill>
                  <a:srgbClr val="FFFFFF"/>
                </a:solidFill>
                <a:latin typeface="Poppins"/>
              </a:rPr>
              <a:t>Cliente de la demo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450" b="0">
                <a:solidFill>
                  <a:srgbClr val="DCC5FF"/>
                </a:solidFill>
                <a:latin typeface="Poppins"/>
              </a:rPr>
              <a:t>Recibe la petición y carga las funciones descritas en OpenAPI.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850" b="1">
                <a:solidFill>
                  <a:srgbClr val="FFFFFF"/>
                </a:solidFill>
                <a:latin typeface="Poppins"/>
              </a:rPr>
              <a:t>Ejecución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450" b="0">
                <a:solidFill>
                  <a:srgbClr val="DCC5FF"/>
                </a:solidFill>
                <a:latin typeface="Poppins"/>
              </a:rPr>
              <a:t>Nuestro código ejecuta las llamadas HTTP y devuelve sus resultados al modelo.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850" b="1">
                <a:solidFill>
                  <a:srgbClr val="FFFFFF"/>
                </a:solidFill>
                <a:latin typeface="Poppins"/>
              </a:rPr>
              <a:t>El backend se conserva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450" b="0">
                <a:solidFill>
                  <a:srgbClr val="DCC5FF"/>
                </a:solidFill>
                <a:latin typeface="Poppins"/>
              </a:rPr>
              <a:t>La primera prueba usa la API de partida.</a:t>
            </a:r>
          </a:p>
        </p:txBody>
      </p:sp>
    </p:spTree>
    <p:extLst>
      <p:ext uri="{BB962C8B-B14F-4D97-AF65-F5344CB8AC3E}">
        <p14:creationId xmlns:p14="http://schemas.microsoft.com/office/powerpoint/2010/main" val="7680001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77240" y="1170432"/>
            <a:ext cx="1371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FF4D9D"/>
                </a:solidFill>
                <a:latin typeface="Poppins"/>
              </a:rPr>
              <a:t>DEMO 2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77240" y="1481328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Poppins"/>
              </a:rPr>
              <a:t>Demo 2 · El agente consumiendo REST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594360" y="3255452"/>
            <a:ext cx="17099280" cy="5998275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222" name="TextBox 221"/>
          <p:cNvSpPr txBox="1"/>
          <p:nvPr/>
        </p:nvSpPr>
        <p:spPr>
          <a:xfrm>
            <a:off x="1295150" y="4072969"/>
            <a:ext cx="15697699" cy="3714222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800" b="1" dirty="0">
                <a:solidFill>
                  <a:srgbClr val="FFFFFF"/>
                </a:solidFill>
                <a:latin typeface="Poppins"/>
              </a:rPr>
              <a:t>Entrada del guion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800" b="0" dirty="0" err="1">
                <a:solidFill>
                  <a:srgbClr val="FFFFFF"/>
                </a:solidFill>
                <a:latin typeface="Poppins"/>
              </a:rPr>
              <a:t>organizerId</a:t>
            </a:r>
            <a:r>
              <a:rPr lang="es-ES" sz="3800" b="0" dirty="0">
                <a:solidFill>
                  <a:srgbClr val="FFFFFF"/>
                </a:solidFill>
                <a:latin typeface="Poppins"/>
              </a:rPr>
              <a:t>=Tech Riders y status=</a:t>
            </a:r>
            <a:r>
              <a:rPr lang="es-ES" sz="3800" b="0" dirty="0" err="1">
                <a:solidFill>
                  <a:srgbClr val="FFFFFF"/>
                </a:solidFill>
                <a:latin typeface="Poppins"/>
              </a:rPr>
              <a:t>pending</a:t>
            </a:r>
            <a:endParaRPr lang="es-ES" sz="3800" b="0" dirty="0">
              <a:solidFill>
                <a:srgbClr val="FFFFFF"/>
              </a:solidFill>
              <a:latin typeface="Poppins"/>
            </a:endParaRP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800" b="1" dirty="0">
                <a:solidFill>
                  <a:srgbClr val="FFFFFF"/>
                </a:solidFill>
                <a:latin typeface="Poppins"/>
              </a:rPr>
              <a:t>Respuesta mostrada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800" b="0" dirty="0">
                <a:solidFill>
                  <a:srgbClr val="FFFFFF"/>
                </a:solidFill>
                <a:latin typeface="Poppins"/>
              </a:rPr>
              <a:t>400 Bad </a:t>
            </a:r>
            <a:r>
              <a:rPr lang="es-ES" sz="3800" b="0" dirty="0" err="1">
                <a:solidFill>
                  <a:srgbClr val="FFFFFF"/>
                </a:solidFill>
                <a:latin typeface="Poppins"/>
              </a:rPr>
              <a:t>Request</a:t>
            </a:r>
            <a:r>
              <a:rPr lang="es-ES" sz="3800" b="0" dirty="0">
                <a:solidFill>
                  <a:srgbClr val="FFFFFF"/>
                </a:solidFill>
                <a:latin typeface="Poppins"/>
              </a:rPr>
              <a:t> con «</a:t>
            </a:r>
            <a:r>
              <a:rPr lang="es-ES" sz="3800" b="0" dirty="0" err="1">
                <a:solidFill>
                  <a:srgbClr val="FFFFFF"/>
                </a:solidFill>
                <a:latin typeface="Poppins"/>
              </a:rPr>
              <a:t>Invalid</a:t>
            </a:r>
            <a:r>
              <a:rPr lang="es-ES" sz="3800" b="0" dirty="0">
                <a:solidFill>
                  <a:srgbClr val="FFFFFF"/>
                </a:solidFill>
                <a:latin typeface="Poppins"/>
              </a:rPr>
              <a:t> </a:t>
            </a:r>
            <a:r>
              <a:rPr lang="es-ES" sz="3800" b="0" dirty="0" err="1">
                <a:solidFill>
                  <a:srgbClr val="FFFFFF"/>
                </a:solidFill>
                <a:latin typeface="Poppins"/>
              </a:rPr>
              <a:t>request</a:t>
            </a:r>
            <a:r>
              <a:rPr lang="es-ES" sz="3800" b="0" dirty="0">
                <a:solidFill>
                  <a:srgbClr val="FFFFFF"/>
                </a:solidFill>
                <a:latin typeface="Poppins"/>
              </a:rPr>
              <a:t>». El error no permite decidir cómo corregir la petición.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777240" y="1481328"/>
            <a:ext cx="167335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Poppins"/>
              </a:rPr>
              <a:t>Un error que permita continuar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594360" y="2852300"/>
            <a:ext cx="8876675" cy="4816915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921395" y="3232583"/>
            <a:ext cx="8222604" cy="3098156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000" b="0">
                <a:solidFill>
                  <a:srgbClr val="DCC5FF"/>
                </a:solidFill>
                <a:latin typeface="Consolas"/>
              </a:rPr>
              <a:t>Petición inválida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000" b="0">
                <a:solidFill>
                  <a:srgbClr val="DCC5FF"/>
                </a:solidFill>
                <a:latin typeface="Consolas"/>
              </a:rPr>
              <a:t>        ↓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000" b="0">
                <a:solidFill>
                  <a:srgbClr val="DCC5FF"/>
                </a:solidFill>
                <a:latin typeface="Consolas"/>
              </a:rPr>
              <a:t>400 Bad Request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endParaRPr lang="es-ES" sz="2100" b="0">
              <a:solidFill>
                <a:srgbClr val="C79DFF"/>
              </a:solidFill>
              <a:latin typeface="Consolas"/>
            </a:endParaRP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000" b="0">
                <a:solidFill>
                  <a:srgbClr val="DCC5FF"/>
                </a:solidFill>
                <a:latin typeface="Consolas"/>
              </a:rPr>
              <a:t>{ "error": "Invalid request" }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10078386" y="2788920"/>
            <a:ext cx="7615253" cy="4231992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760" b="1">
                <a:solidFill>
                  <a:srgbClr val="FF4D9D"/>
                </a:solidFill>
                <a:latin typeface="Poppins"/>
              </a:rPr>
              <a:t>La validación detectó el problema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520" b="0">
                <a:solidFill>
                  <a:srgbClr val="D9D9D9"/>
                </a:solidFill>
                <a:latin typeface="Poppins"/>
              </a:rPr>
              <a:t>Para corregirlo faltan el campo inválido, el motivo y los valores admitidos.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760" b="1">
                <a:solidFill>
                  <a:srgbClr val="D9D9D9"/>
                </a:solidFill>
                <a:latin typeface="Poppins"/>
              </a:rPr>
              <a:t>La mejora con ProblemDetails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520" b="0">
                <a:solidFill>
                  <a:srgbClr val="D9D9D9"/>
                </a:solidFill>
                <a:latin typeface="Poppins"/>
              </a:rPr>
              <a:t>Código INVALID_EVENT_STATUS, detalle, valores válidos y correlationId.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" grpId="0"/>
      <p:bldP spid="21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77240" y="1170432"/>
            <a:ext cx="1673352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4D9D"/>
                </a:solidFill>
                <a:latin typeface="Poppins"/>
              </a:rPr>
              <a:t>SEGUNDO PROBLEMA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77240" y="1481328"/>
            <a:ext cx="167335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Poppins"/>
              </a:rPr>
              <a:t>Casos de uso explícitos para el agente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594360" y="2788920"/>
            <a:ext cx="7942288" cy="4265581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921395" y="3182112"/>
            <a:ext cx="7288217" cy="3566160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FFFFFF"/>
                </a:solidFill>
                <a:latin typeface="Poppins"/>
              </a:rPr>
              <a:t>Listado de eventos</a:t>
            </a:r>
            <a:endParaRPr lang="es-ES" sz="2400" b="0">
              <a:solidFill>
                <a:srgbClr val="C79DFF"/>
              </a:solidFill>
              <a:latin typeface="Consolas"/>
            </a:endParaRPr>
          </a:p>
          <a:p>
            <a:pPr>
              <a:lnSpc>
                <a:spcPct val="104000"/>
              </a:lnSpc>
              <a:spcBef>
                <a:spcPts val="1300"/>
              </a:spcBef>
              <a:spcAft>
                <a:spcPts val="200"/>
              </a:spcAft>
            </a:pPr>
            <a:r>
              <a:rPr sz="2900" b="0">
                <a:solidFill>
                  <a:srgbClr val="DCC5FF"/>
                </a:solidFill>
                <a:latin typeface="Consolas"/>
              </a:rPr>
              <a:t>GET /events</a:t>
            </a:r>
          </a:p>
          <a:p>
            <a:pPr>
              <a:lnSpc>
                <a:spcPct val="104000"/>
              </a:lnSpc>
              <a:spcBef>
                <a:spcPts val="1200"/>
              </a:spcBef>
              <a:spcAft>
                <a:spcPts val="200"/>
              </a:spcAft>
            </a:pPr>
            <a:r>
              <a:rPr sz="2600" b="0">
                <a:solidFill>
                  <a:srgbClr val="DCC5FF"/>
                </a:solidFill>
                <a:latin typeface="Poppins"/>
              </a:rPr>
              <a:t>Devuelve los datos de los eventos.</a:t>
            </a:r>
          </a:p>
          <a:p>
            <a:pPr>
              <a:lnSpc>
                <a:spcPct val="104000"/>
              </a:lnSpc>
              <a:spcBef>
                <a:spcPts val="800"/>
              </a:spcBef>
              <a:spcAft>
                <a:spcPts val="200"/>
              </a:spcAft>
            </a:pPr>
            <a:r>
              <a:rPr sz="2600" b="0">
                <a:solidFill>
                  <a:srgbClr val="DCC5FF"/>
                </a:solidFill>
                <a:latin typeface="Poppins"/>
              </a:rPr>
              <a:t>El agente tendría que deducir qué revisar y cómo actuar.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9704632" y="2788920"/>
            <a:ext cx="7989007" cy="4265581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10031667" y="3182112"/>
            <a:ext cx="7288217" cy="3566160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FFFFFF"/>
                </a:solidFill>
                <a:latin typeface="Poppins"/>
              </a:rPr>
              <a:t>Operaciones de negocio</a:t>
            </a:r>
            <a:endParaRPr lang="es-ES" sz="2200" b="0">
              <a:solidFill>
                <a:srgbClr val="C79DFF"/>
              </a:solidFill>
              <a:latin typeface="Consolas"/>
            </a:endParaRPr>
          </a:p>
          <a:p>
            <a:pPr>
              <a:lnSpc>
                <a:spcPct val="104000"/>
              </a:lnSpc>
              <a:spcBef>
                <a:spcPts val="1200"/>
              </a:spcBef>
              <a:spcAft>
                <a:spcPts val="200"/>
              </a:spcAft>
            </a:pPr>
            <a:r>
              <a:rPr sz="2700" b="0">
                <a:solidFill>
                  <a:srgbClr val="DCC5FF"/>
                </a:solidFill>
                <a:latin typeface="Consolas"/>
              </a:rPr>
              <a:t>GetPendingEvents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0">
                <a:solidFill>
                  <a:srgbClr val="DCC5FF"/>
                </a:solidFill>
                <a:latin typeface="Poppins"/>
              </a:rPr>
              <a:t>Obtiene los eventos pendientes.</a:t>
            </a:r>
          </a:p>
          <a:p>
            <a:pPr>
              <a:lnSpc>
                <a:spcPct val="104000"/>
              </a:lnSpc>
              <a:spcBef>
                <a:spcPts val="900"/>
              </a:spcBef>
              <a:spcAft>
                <a:spcPts val="200"/>
              </a:spcAft>
            </a:pPr>
            <a:r>
              <a:rPr sz="2700" b="0">
                <a:solidFill>
                  <a:srgbClr val="DCC5FF"/>
                </a:solidFill>
                <a:latin typeface="Consolas"/>
              </a:rPr>
              <a:t>GetEventReviewContext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0">
                <a:solidFill>
                  <a:srgbClr val="DCC5FF"/>
                </a:solidFill>
                <a:latin typeface="Poppins"/>
              </a:rPr>
              <a:t>Aporta motivos y acciones permitidas.</a:t>
            </a:r>
          </a:p>
          <a:p>
            <a:pPr>
              <a:lnSpc>
                <a:spcPct val="104000"/>
              </a:lnSpc>
              <a:spcBef>
                <a:spcPts val="900"/>
              </a:spcBef>
              <a:spcAft>
                <a:spcPts val="200"/>
              </a:spcAft>
            </a:pPr>
            <a:r>
              <a:rPr sz="2700" b="0">
                <a:solidFill>
                  <a:srgbClr val="DCC5FF"/>
                </a:solidFill>
                <a:latin typeface="Consolas"/>
              </a:rPr>
              <a:t>CancelEvent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0">
                <a:solidFill>
                  <a:srgbClr val="DCC5FF"/>
                </a:solidFill>
                <a:latin typeface="Poppins"/>
              </a:rPr>
              <a:t>Ejecuta la cancelación.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594360" y="8038866"/>
            <a:ext cx="17099280" cy="916085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570" b="0">
                <a:solidFill>
                  <a:srgbClr val="D9D9D9"/>
                </a:solidFill>
                <a:latin typeface="Poppins"/>
              </a:rPr>
              <a:t>Application aporta casos de uso y evidencia de negocio. Compartir fecha y organizador no basta para que el agente concluya que dos eventos son duplicados.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" grpId="0" animBg="1"/>
      <p:bldP spid="218" grpId="0"/>
      <p:bldP spid="220" grpId="0" animBg="1"/>
      <p:bldP spid="221" grpId="0"/>
      <p:bldP spid="2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77240" y="1170432"/>
            <a:ext cx="1673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4D9D"/>
                </a:solidFill>
                <a:latin typeface="Poppins"/>
              </a:rPr>
              <a:t>MEJORAMOS LAS CAPACIDADES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77240" y="1481328"/>
            <a:ext cx="167335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Poppins"/>
              </a:rPr>
              <a:t>La evolución sucede en Application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594360" y="2788920"/>
            <a:ext cx="9811062" cy="5589979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921395" y="3144487"/>
            <a:ext cx="9156991" cy="4293098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000">
                <a:solidFill>
                  <a:srgbClr val="DCC5FF"/>
                </a:solidFill>
                <a:latin typeface="Consolas"/>
              </a:rPr>
              <a:t>TechRiders.Application</a:t>
            </a:r>
          </a:p>
          <a:p>
            <a:pPr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000">
                <a:solidFill>
                  <a:srgbClr val="DCC5FF"/>
                </a:solidFill>
                <a:latin typeface="Consolas"/>
              </a:rPr>
              <a:t>└── Events</a:t>
            </a:r>
          </a:p>
          <a:p>
            <a:pPr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000">
                <a:solidFill>
                  <a:srgbClr val="DCC5FF"/>
                </a:solidFill>
                <a:latin typeface="Consolas"/>
              </a:rPr>
              <a:t>    ├── GetPendingEvents</a:t>
            </a:r>
          </a:p>
          <a:p>
            <a:pPr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000">
                <a:solidFill>
                  <a:srgbClr val="DCC5FF"/>
                </a:solidFill>
                <a:latin typeface="Consolas"/>
              </a:rPr>
              <a:t>    ├── GetEventReviewContext</a:t>
            </a:r>
          </a:p>
          <a:p>
            <a:pPr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000">
                <a:solidFill>
                  <a:srgbClr val="DCC5FF"/>
                </a:solidFill>
                <a:latin typeface="Consolas"/>
              </a:rPr>
              <a:t>    └── CancelEvent</a:t>
            </a:r>
          </a:p>
          <a:p>
            <a:pPr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endParaRPr lang="es-ES" sz="2000">
              <a:solidFill>
                <a:srgbClr val="C79DFF"/>
              </a:solidFill>
              <a:latin typeface="Consolas"/>
            </a:endParaRPr>
          </a:p>
          <a:p>
            <a:pPr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000">
                <a:solidFill>
                  <a:srgbClr val="DCC5FF"/>
                </a:solidFill>
                <a:latin typeface="Consolas"/>
              </a:rPr>
              <a:t>Domain conserva las reglas de negocio.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11106212" y="2788920"/>
            <a:ext cx="6587427" cy="5494325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390" b="1">
                <a:solidFill>
                  <a:srgbClr val="FFFFFF"/>
                </a:solidFill>
                <a:latin typeface="Poppins"/>
              </a:rPr>
              <a:t>Casos de uso explícitos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930" b="0">
                <a:solidFill>
                  <a:srgbClr val="DCC5FF"/>
                </a:solidFill>
                <a:latin typeface="Poppins"/>
              </a:rPr>
              <a:t>Application reúne la operación que el consumidor necesita ejecutar.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390" b="1">
                <a:solidFill>
                  <a:srgbClr val="FFFFFF"/>
                </a:solidFill>
                <a:latin typeface="Poppins"/>
              </a:rPr>
              <a:t>Un contrato con evidencia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930" b="0">
                <a:solidFill>
                  <a:srgbClr val="DCC5FF"/>
                </a:solidFill>
                <a:latin typeface="Poppins"/>
              </a:rPr>
              <a:t>EventReviewContext aporta motivos y acciones permitidas para justificar la decisión.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390" b="1">
                <a:solidFill>
                  <a:srgbClr val="FFFFFF"/>
                </a:solidFill>
                <a:latin typeface="Poppins"/>
              </a:rPr>
              <a:t>La señal de la demo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930" b="0">
                <a:solidFill>
                  <a:srgbClr val="DCC5FF"/>
                </a:solidFill>
                <a:latin typeface="Poppins"/>
              </a:rPr>
              <a:t>EVT-1004 requiere revisión por posible duplicidad con EVT-1002.</a:t>
            </a:r>
          </a:p>
        </p:txBody>
      </p:sp>
      <p:sp>
        <p:nvSpPr>
          <p:cNvPr id="2" name="TextBox 218"/>
          <p:cNvSpPr txBox="1"/>
          <p:nvPr/>
        </p:nvSpPr>
        <p:spPr>
          <a:xfrm>
            <a:off x="594360" y="8622792"/>
            <a:ext cx="17099280" cy="630936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850" b="0">
                <a:solidFill>
                  <a:srgbClr val="DCC5FF"/>
                </a:solidFill>
                <a:latin typeface="Poppins"/>
              </a:rPr>
              <a:t>La aplicación aporta la evidencia. El agente decide sobre una señal explícita.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" grpId="0"/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77240" y="1170432"/>
            <a:ext cx="1673352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4D9D"/>
                </a:solidFill>
                <a:latin typeface="Poppins"/>
              </a:rPr>
              <a:t>ESCRITURA</a:t>
            </a:r>
            <a:r>
              <a:rPr lang="es-ES" sz="1600" b="1">
                <a:solidFill>
                  <a:srgbClr val="FF4D9D"/>
                </a:solidFill>
                <a:latin typeface="Poppins"/>
              </a:rPr>
              <a:t> · CancelEvent</a:t>
            </a:r>
            <a:endParaRPr sz="1600" b="1">
              <a:solidFill>
                <a:srgbClr val="FF4D9D"/>
              </a:solidFill>
              <a:latin typeface="Poppins"/>
            </a:endParaRPr>
          </a:p>
        </p:txBody>
      </p:sp>
      <p:sp>
        <p:nvSpPr>
          <p:cNvPr id="216" name="TextBox 215"/>
          <p:cNvSpPr txBox="1"/>
          <p:nvPr/>
        </p:nvSpPr>
        <p:spPr>
          <a:xfrm>
            <a:off x="777240" y="1481328"/>
            <a:ext cx="167335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s-ES" sz="4000" b="1">
                <a:solidFill>
                  <a:srgbClr val="FFFFFF"/>
                </a:solidFill>
                <a:latin typeface="Poppins"/>
              </a:rPr>
              <a:t>Garantías para cancelar un evento</a:t>
            </a:r>
            <a:endParaRPr sz="4000" b="1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217" name="Rounded Rectangle 216"/>
          <p:cNvSpPr/>
          <p:nvPr/>
        </p:nvSpPr>
        <p:spPr>
          <a:xfrm>
            <a:off x="594360" y="3665915"/>
            <a:ext cx="4064581" cy="4724409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960" b="1">
                <a:solidFill>
                  <a:srgbClr val="FFFFFF"/>
                </a:solidFill>
                <a:latin typeface="Poppins"/>
              </a:rPr>
              <a:t>Identidad</a:t>
            </a:r>
          </a:p>
          <a:p>
            <a:pPr algn="ctr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880" b="0">
                <a:solidFill>
                  <a:srgbClr val="DCC5FF"/>
                </a:solidFill>
                <a:latin typeface="Poppins"/>
              </a:rPr>
              <a:t>Quién solicita la acción</a:t>
            </a:r>
          </a:p>
          <a:p>
            <a:pPr algn="ctr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960" b="1">
                <a:solidFill>
                  <a:srgbClr val="FF4D9D"/>
                </a:solidFill>
                <a:latin typeface="Poppins"/>
              </a:rPr>
              <a:t>Propagamos la identidad efectiva con la que actúa el agente.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4939257" y="3665915"/>
            <a:ext cx="4064581" cy="4724409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880" b="1">
                <a:solidFill>
                  <a:srgbClr val="FFFFFF"/>
                </a:solidFill>
                <a:latin typeface="Poppins"/>
              </a:rPr>
              <a:t>Autorización</a:t>
            </a:r>
          </a:p>
          <a:p>
            <a:pPr algn="ctr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880" b="0">
                <a:solidFill>
                  <a:srgbClr val="DCC5FF"/>
                </a:solidFill>
                <a:latin typeface="Poppins"/>
              </a:rPr>
              <a:t>Qué puede ejecutar</a:t>
            </a:r>
          </a:p>
          <a:p>
            <a:pPr algn="ctr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880" b="1">
                <a:solidFill>
                  <a:srgbClr val="FF4D9D"/>
                </a:solidFill>
                <a:latin typeface="Poppins"/>
              </a:rPr>
              <a:t>Application valida el permiso. Ocultar un botón no sustituye esa comprobación.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9284157" y="3665915"/>
            <a:ext cx="4064581" cy="4724409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960" b="1">
                <a:solidFill>
                  <a:srgbClr val="FFFFFF"/>
                </a:solidFill>
                <a:latin typeface="Poppins"/>
              </a:rPr>
              <a:t>Confirmación</a:t>
            </a:r>
          </a:p>
          <a:p>
            <a:pPr algn="ctr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880" b="0">
                <a:solidFill>
                  <a:srgbClr val="DCC5FF"/>
                </a:solidFill>
                <a:latin typeface="Poppins"/>
              </a:rPr>
              <a:t>Qué quiere ejecutar ahora</a:t>
            </a:r>
          </a:p>
          <a:p>
            <a:pPr algn="ctr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960" b="1">
                <a:solidFill>
                  <a:srgbClr val="FF4D9D"/>
                </a:solidFill>
                <a:latin typeface="Poppins"/>
              </a:rPr>
              <a:t>El usuario confirma la propuesta antes de aplicar la cancelación.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13629056" y="3665915"/>
            <a:ext cx="4064581" cy="4724409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880" b="1">
                <a:solidFill>
                  <a:srgbClr val="FFFFFF"/>
                </a:solidFill>
                <a:latin typeface="Poppins"/>
              </a:rPr>
              <a:t>Idempotencia</a:t>
            </a:r>
          </a:p>
          <a:p>
            <a:pPr algn="ctr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800" b="0">
                <a:solidFill>
                  <a:srgbClr val="DCC5FF"/>
                </a:solidFill>
                <a:latin typeface="Poppins"/>
              </a:rPr>
              <a:t>Qué ocurre al reintentar</a:t>
            </a:r>
          </a:p>
          <a:p>
            <a:pPr algn="ctr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880" b="1">
                <a:solidFill>
                  <a:srgbClr val="FF4D9D"/>
                </a:solidFill>
                <a:latin typeface="Poppins"/>
              </a:rPr>
              <a:t>Idempotency-Key evita aplicar de nuevo el mismo efecto.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594360" y="8622792"/>
            <a:ext cx="17099280" cy="630936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850" b="1">
                <a:solidFill>
                  <a:srgbClr val="FFFFFF"/>
                </a:solidFill>
                <a:latin typeface="Poppins"/>
              </a:rPr>
              <a:t>Permiso, confirmación e idempotencia resuelven problemas diferentes.</a:t>
            </a:r>
          </a:p>
        </p:txBody>
      </p:sp>
      <p:sp>
        <p:nvSpPr>
          <p:cNvPr id="2" name="TextBox 220"/>
          <p:cNvSpPr txBox="1"/>
          <p:nvPr/>
        </p:nvSpPr>
        <p:spPr>
          <a:xfrm>
            <a:off x="594360" y="2377440"/>
            <a:ext cx="17099280" cy="1142170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040" b="0">
                <a:solidFill>
                  <a:srgbClr val="DCC5FF"/>
                </a:solidFill>
                <a:latin typeface="Poppins"/>
              </a:rPr>
              <a:t>La interfaz puede ayudar a pedir una acción. Los permisos y la protección frente a reintentos deben aplicarse en el servidor.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" grpId="0" animBg="1"/>
      <p:bldP spid="218" grpId="0" animBg="1"/>
      <p:bldP spid="219" grpId="0" animBg="1"/>
      <p:bldP spid="220" grpId="0" animBg="1"/>
      <p:bldP spid="2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77240" y="1170432"/>
            <a:ext cx="1673352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s-ES" sz="1600" b="1">
                <a:solidFill>
                  <a:srgbClr val="FF4D9D"/>
                </a:solidFill>
                <a:latin typeface="Poppins"/>
              </a:rPr>
              <a:t>POR QUÉ YA FUNCIONA</a:t>
            </a:r>
            <a:endParaRPr sz="1600" b="1">
              <a:solidFill>
                <a:srgbClr val="FF4D9D"/>
              </a:solidFill>
              <a:latin typeface="Poppins"/>
            </a:endParaRPr>
          </a:p>
        </p:txBody>
      </p:sp>
      <p:sp>
        <p:nvSpPr>
          <p:cNvPr id="216" name="TextBox 215"/>
          <p:cNvSpPr txBox="1"/>
          <p:nvPr/>
        </p:nvSpPr>
        <p:spPr>
          <a:xfrm>
            <a:off x="777240" y="1481328"/>
            <a:ext cx="167335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Poppins"/>
              </a:rPr>
              <a:t>El agente </a:t>
            </a:r>
            <a:r>
              <a:rPr lang="es-ES" sz="4400" b="1">
                <a:solidFill>
                  <a:srgbClr val="FFFFFF"/>
                </a:solidFill>
                <a:latin typeface="Poppins"/>
              </a:rPr>
              <a:t>completa </a:t>
            </a:r>
            <a:r>
              <a:rPr sz="4400" b="1">
                <a:solidFill>
                  <a:srgbClr val="FFFFFF"/>
                </a:solidFill>
                <a:latin typeface="Poppins"/>
              </a:rPr>
              <a:t>la misión </a:t>
            </a:r>
            <a:r>
              <a:rPr lang="es-ES" sz="4400" b="1">
                <a:solidFill>
                  <a:srgbClr val="FFFFFF"/>
                </a:solidFill>
                <a:latin typeface="Poppins"/>
              </a:rPr>
              <a:t>con</a:t>
            </a:r>
            <a:r>
              <a:rPr sz="4400" b="1">
                <a:solidFill>
                  <a:srgbClr val="FFFFFF"/>
                </a:solidFill>
                <a:latin typeface="Poppins"/>
              </a:rPr>
              <a:t> REST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594360" y="2377440"/>
            <a:ext cx="17099280" cy="1015850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640" b="0">
                <a:solidFill>
                  <a:srgbClr val="DCC5FF"/>
                </a:solidFill>
                <a:latin typeface="Poppins"/>
              </a:rPr>
              <a:t>Los contratos mejorados aportan valores válidos, evidencia de revisión y controles para completar la misión.</a:t>
            </a:r>
          </a:p>
        </p:txBody>
      </p:sp>
      <p:sp>
        <p:nvSpPr>
          <p:cNvPr id="2" name="Rounded Rectangle 216"/>
          <p:cNvSpPr/>
          <p:nvPr/>
        </p:nvSpPr>
        <p:spPr>
          <a:xfrm>
            <a:off x="594360" y="8188419"/>
            <a:ext cx="17099280" cy="1065308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520" b="1">
                <a:solidFill>
                  <a:srgbClr val="FFFFFF"/>
                </a:solidFill>
                <a:latin typeface="Poppins"/>
              </a:rPr>
              <a:t>REST ya resuelve la misión. El siguiente paso publica esas capacidades mediante MCP.</a:t>
            </a:r>
          </a:p>
        </p:txBody>
      </p:sp>
      <p:sp>
        <p:nvSpPr>
          <p:cNvPr id="900" name="Paso 1"/>
          <p:cNvSpPr/>
          <p:nvPr/>
        </p:nvSpPr>
        <p:spPr>
          <a:xfrm>
            <a:off x="594360" y="3539595"/>
            <a:ext cx="4064581" cy="4261235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640" b="1">
                <a:solidFill>
                  <a:srgbClr val="FFFFFF"/>
                </a:solidFill>
                <a:latin typeface="Poppins"/>
              </a:rPr>
              <a:t>Descubre y elige</a:t>
            </a:r>
          </a:p>
          <a:p>
            <a:pPr algn="ctr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470" b="0">
                <a:solidFill>
                  <a:srgbClr val="DCC5FF"/>
                </a:solidFill>
                <a:latin typeface="Poppins"/>
              </a:rPr>
              <a:t>Antes: operaciones ambiguas</a:t>
            </a:r>
          </a:p>
          <a:p>
            <a:pPr algn="ctr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470" b="1">
                <a:solidFill>
                  <a:srgbClr val="FF4D9D"/>
                </a:solidFill>
                <a:latin typeface="Poppins"/>
              </a:rPr>
              <a:t>Ahora: nombres y descripciones explícitas en OpenAPI</a:t>
            </a:r>
          </a:p>
          <a:p>
            <a:pPr algn="ctr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470" b="0">
                <a:solidFill>
                  <a:srgbClr val="FFFFFF"/>
                </a:solidFill>
                <a:latin typeface="Poppins"/>
              </a:rPr>
              <a:t>TechRiders.Api</a:t>
            </a:r>
          </a:p>
        </p:txBody>
      </p:sp>
      <p:sp>
        <p:nvSpPr>
          <p:cNvPr id="901" name="Paso 2"/>
          <p:cNvSpPr/>
          <p:nvPr/>
        </p:nvSpPr>
        <p:spPr>
          <a:xfrm>
            <a:off x="4939257" y="3539595"/>
            <a:ext cx="4064581" cy="4261235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640" b="1">
                <a:solidFill>
                  <a:srgbClr val="FFFFFF"/>
                </a:solidFill>
                <a:latin typeface="Poppins"/>
              </a:rPr>
              <a:t>Corrige</a:t>
            </a:r>
            <a:br>
              <a:rPr lang="es-ES" sz="2640" b="1">
                <a:solidFill>
                  <a:srgbClr val="FFFFFF"/>
                </a:solidFill>
                <a:latin typeface="Poppins"/>
              </a:rPr>
            </a:br>
            <a:r>
              <a:rPr lang="es-ES" sz="2640" b="1">
                <a:solidFill>
                  <a:srgbClr val="FFFFFF"/>
                </a:solidFill>
                <a:latin typeface="Poppins"/>
              </a:rPr>
              <a:t>sus errores</a:t>
            </a:r>
          </a:p>
          <a:p>
            <a:pPr algn="ctr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470" b="0">
                <a:solidFill>
                  <a:srgbClr val="DCC5FF"/>
                </a:solidFill>
                <a:latin typeface="Poppins"/>
              </a:rPr>
              <a:t>Antes · 400 "Invalid request"</a:t>
            </a:r>
          </a:p>
          <a:p>
            <a:pPr algn="ctr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470" b="1">
                <a:solidFill>
                  <a:srgbClr val="FF4D9D"/>
                </a:solidFill>
                <a:latin typeface="Poppins"/>
              </a:rPr>
              <a:t>Ahora · ProblemDetails con código, motivo y valores permitidos</a:t>
            </a:r>
          </a:p>
          <a:p>
            <a:pPr algn="ctr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470" b="0">
                <a:solidFill>
                  <a:srgbClr val="FFFFFF"/>
                </a:solidFill>
                <a:latin typeface="Poppins"/>
              </a:rPr>
              <a:t>Api + Application</a:t>
            </a:r>
          </a:p>
        </p:txBody>
      </p:sp>
      <p:sp>
        <p:nvSpPr>
          <p:cNvPr id="902" name="Paso 3"/>
          <p:cNvSpPr/>
          <p:nvPr/>
        </p:nvSpPr>
        <p:spPr>
          <a:xfrm>
            <a:off x="9284157" y="3539595"/>
            <a:ext cx="4064581" cy="4261235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240" b="1">
                <a:solidFill>
                  <a:srgbClr val="FFFFFF"/>
                </a:solidFill>
                <a:latin typeface="Poppins"/>
              </a:rPr>
              <a:t>Justifica la decisión</a:t>
            </a:r>
          </a:p>
          <a:p>
            <a:pPr algn="ctr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100" b="0">
                <a:solidFill>
                  <a:srgbClr val="DCC5FF"/>
                </a:solidFill>
                <a:latin typeface="Poppins"/>
              </a:rPr>
              <a:t>Antes · infería duplicidad por la fecha</a:t>
            </a:r>
          </a:p>
          <a:p>
            <a:pPr algn="ctr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100" b="1">
                <a:solidFill>
                  <a:srgbClr val="FF4D9D"/>
                </a:solidFill>
                <a:latin typeface="Poppins"/>
              </a:rPr>
              <a:t>Ahora · GetEventReviewContext devuelve motivos y acciones</a:t>
            </a:r>
          </a:p>
          <a:p>
            <a:pPr algn="ctr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100" b="0">
                <a:solidFill>
                  <a:srgbClr val="FFFFFF"/>
                </a:solidFill>
                <a:latin typeface="Poppins"/>
              </a:rPr>
              <a:t>Application</a:t>
            </a:r>
          </a:p>
        </p:txBody>
      </p:sp>
      <p:sp>
        <p:nvSpPr>
          <p:cNvPr id="903" name="Paso 4"/>
          <p:cNvSpPr/>
          <p:nvPr/>
        </p:nvSpPr>
        <p:spPr>
          <a:xfrm>
            <a:off x="13629056" y="3539595"/>
            <a:ext cx="4064581" cy="4261235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640" b="1">
                <a:solidFill>
                  <a:srgbClr val="FFFFFF"/>
                </a:solidFill>
                <a:latin typeface="Poppins"/>
              </a:rPr>
              <a:t>Actúa con</a:t>
            </a:r>
            <a:br>
              <a:rPr lang="es-ES" sz="2640" b="1">
                <a:solidFill>
                  <a:srgbClr val="FFFFFF"/>
                </a:solidFill>
                <a:latin typeface="Poppins"/>
              </a:rPr>
            </a:br>
            <a:r>
              <a:rPr lang="es-ES" sz="2640" b="1">
                <a:solidFill>
                  <a:srgbClr val="FFFFFF"/>
                </a:solidFill>
                <a:latin typeface="Poppins"/>
              </a:rPr>
              <a:t>límites</a:t>
            </a:r>
          </a:p>
          <a:p>
            <a:pPr algn="ctr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470" b="0">
                <a:solidFill>
                  <a:srgbClr val="DCC5FF"/>
                </a:solidFill>
                <a:latin typeface="Poppins"/>
              </a:rPr>
              <a:t>Antes: controles poco explícitos</a:t>
            </a:r>
          </a:p>
          <a:p>
            <a:pPr algn="ctr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470" b="1">
                <a:solidFill>
                  <a:srgbClr val="FF4D9D"/>
                </a:solidFill>
                <a:latin typeface="Poppins"/>
              </a:rPr>
              <a:t>Ahora: autorización, confirmación e idempotencia</a:t>
            </a:r>
          </a:p>
          <a:p>
            <a:pPr algn="ctr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470" b="0">
                <a:solidFill>
                  <a:srgbClr val="FFFFFF"/>
                </a:solidFill>
                <a:latin typeface="Poppins"/>
              </a:rPr>
              <a:t>Application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00" grpId="0" animBg="1"/>
      <p:bldP spid="901" grpId="0" animBg="1"/>
      <p:bldP spid="902" grpId="0" animBg="1"/>
      <p:bldP spid="90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77240" y="1170432"/>
            <a:ext cx="1673352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4D9D"/>
                </a:solidFill>
                <a:latin typeface="Poppins"/>
              </a:rPr>
              <a:t>SECCIÓN 03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77240" y="3017520"/>
            <a:ext cx="16733520" cy="29093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600"/>
              </a:spcAft>
            </a:pPr>
            <a:r>
              <a:rPr lang="es-ES" sz="6000" b="1">
                <a:solidFill>
                  <a:srgbClr val="D9D9D9"/>
                </a:solidFill>
                <a:latin typeface="Poppins"/>
              </a:rPr>
              <a:t>API con MCP</a:t>
            </a:r>
            <a:endParaRPr sz="5400" b="1">
              <a:solidFill>
                <a:srgbClr val="D9D9D9"/>
              </a:solidFill>
              <a:latin typeface="Poppins"/>
            </a:endParaRPr>
          </a:p>
          <a:p>
            <a:pPr algn="l">
              <a:spcAft>
                <a:spcPts val="2600"/>
              </a:spcAft>
            </a:pPr>
            <a:endParaRPr sz="5400" b="1">
              <a:solidFill>
                <a:srgbClr val="D9D9D9"/>
              </a:solidFill>
              <a:latin typeface="Poppins"/>
            </a:endParaRPr>
          </a:p>
          <a:p>
            <a:pPr algn="l">
              <a:spcAft>
                <a:spcPts val="0"/>
              </a:spcAft>
            </a:pPr>
            <a:r>
              <a:rPr lang="es-ES" sz="3172" b="1">
                <a:solidFill>
                  <a:srgbClr val="FF4D9D"/>
                </a:solidFill>
                <a:latin typeface="Poppins"/>
              </a:rPr>
              <a:t>Publicar las mismas capacidades de forma estándar, sin tocar el núcleo.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77240" y="1170432"/>
            <a:ext cx="1673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4D9D"/>
                </a:solidFill>
                <a:latin typeface="Poppins"/>
              </a:rPr>
              <a:t>QUÉ ES MCP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77240" y="1481328"/>
            <a:ext cx="167335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s-ES" sz="4000" b="1">
                <a:solidFill>
                  <a:srgbClr val="FFFFFF"/>
                </a:solidFill>
                <a:latin typeface="Poppins"/>
              </a:rPr>
              <a:t>Model Context Protocol</a:t>
            </a:r>
            <a:endParaRPr sz="4000" b="1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970" name="Nota 1"/>
          <p:cNvSpPr/>
          <p:nvPr/>
        </p:nvSpPr>
        <p:spPr>
          <a:xfrm>
            <a:off x="594360" y="2788920"/>
            <a:ext cx="5512881" cy="5596128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411480" rIns="210312" bIns="274320" rtlCol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700" b="1">
                <a:solidFill>
                  <a:srgbClr val="FFFFFF"/>
                </a:solidFill>
                <a:latin typeface="Poppins"/>
              </a:rPr>
              <a:t>Una forma estándar de</a:t>
            </a:r>
            <a:br>
              <a:rPr lang="es-ES" sz="2848" b="1">
                <a:solidFill>
                  <a:srgbClr val="FFFFFF"/>
                </a:solidFill>
                <a:latin typeface="Poppins"/>
              </a:rPr>
            </a:br>
            <a:r>
              <a:rPr lang="es-ES" sz="2700" b="1">
                <a:solidFill>
                  <a:srgbClr val="FFFFFF"/>
                </a:solidFill>
                <a:latin typeface="Poppins"/>
              </a:rPr>
              <a:t>publicar capacidades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472" b="0">
                <a:solidFill>
                  <a:srgbClr val="DCC5FF"/>
                </a:solidFill>
                <a:latin typeface="Poppins"/>
              </a:rPr>
              <a:t>Model Context Protocol define cómo un cliente de IA descubre y ejecuta lo que tu sistema sabe hacer, sin acoplarse a un modelo concreto.</a:t>
            </a:r>
          </a:p>
        </p:txBody>
      </p:sp>
      <p:sp>
        <p:nvSpPr>
          <p:cNvPr id="971" name="Nota 2"/>
          <p:cNvSpPr/>
          <p:nvPr/>
        </p:nvSpPr>
        <p:spPr>
          <a:xfrm>
            <a:off x="6387557" y="2788920"/>
            <a:ext cx="5512881" cy="5596128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660" b="1">
                <a:solidFill>
                  <a:srgbClr val="FFFFFF"/>
                </a:solidFill>
                <a:latin typeface="Poppins"/>
              </a:rPr>
              <a:t>Tools, resources</a:t>
            </a:r>
            <a:br>
              <a:rPr lang="es-ES" sz="3660" b="1">
                <a:solidFill>
                  <a:srgbClr val="FFFFFF"/>
                </a:solidFill>
                <a:latin typeface="Poppins"/>
              </a:rPr>
            </a:br>
            <a:r>
              <a:rPr lang="es-ES" sz="3660" b="1">
                <a:solidFill>
                  <a:srgbClr val="FFFFFF"/>
                </a:solidFill>
                <a:latin typeface="Poppins"/>
              </a:rPr>
              <a:t>y prompts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170" b="0">
                <a:solidFill>
                  <a:srgbClr val="DCC5FF"/>
                </a:solidFill>
                <a:latin typeface="Poppins"/>
              </a:rPr>
              <a:t>Nosotros nos quedamos con tools: operaciones con nombre, descripción, argumentos tipados y un efecto declarado.</a:t>
            </a:r>
          </a:p>
        </p:txBody>
      </p:sp>
      <p:sp>
        <p:nvSpPr>
          <p:cNvPr id="972" name="Nota 3"/>
          <p:cNvSpPr/>
          <p:nvPr/>
        </p:nvSpPr>
        <p:spPr>
          <a:xfrm>
            <a:off x="12180756" y="2788920"/>
            <a:ext cx="5512881" cy="5596128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660" b="1">
                <a:solidFill>
                  <a:srgbClr val="FFFFFF"/>
                </a:solidFill>
                <a:latin typeface="Poppins"/>
              </a:rPr>
              <a:t>El alcance de</a:t>
            </a:r>
            <a:br>
              <a:rPr lang="es-ES" sz="3660" b="1">
                <a:solidFill>
                  <a:srgbClr val="FFFFFF"/>
                </a:solidFill>
                <a:latin typeface="Poppins"/>
              </a:rPr>
            </a:br>
            <a:r>
              <a:rPr lang="es-ES" sz="3660" b="1">
                <a:solidFill>
                  <a:srgbClr val="FFFFFF"/>
                </a:solidFill>
                <a:latin typeface="Poppins"/>
              </a:rPr>
              <a:t>esta demo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170" b="0">
                <a:solidFill>
                  <a:srgbClr val="DCC5FF"/>
                </a:solidFill>
                <a:latin typeface="Poppins"/>
              </a:rPr>
              <a:t>Usamos tools sobre HTTP. Resources y prompts forman parte del protocolo, pero no se desarrollan en este ejemplo.</a:t>
            </a:r>
          </a:p>
        </p:txBody>
      </p:sp>
      <p:sp>
        <p:nvSpPr>
          <p:cNvPr id="973" name="Pie"/>
          <p:cNvSpPr txBox="1"/>
          <p:nvPr/>
        </p:nvSpPr>
        <p:spPr>
          <a:xfrm>
            <a:off x="594360" y="8622792"/>
            <a:ext cx="17099280" cy="630936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1939" b="0">
                <a:solidFill>
                  <a:srgbClr val="DCC5FF"/>
                </a:solidFill>
                <a:latin typeface="Consolas"/>
              </a:rPr>
              <a:t>MCP estandariza la integración entre el cliente y las capacidades del servidor.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1" grpId="0" animBg="1"/>
      <p:bldP spid="972" grpId="0" animBg="1"/>
      <p:bldP spid="97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77240" y="1170432"/>
            <a:ext cx="1673352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s-ES" sz="1600" b="1">
                <a:solidFill>
                  <a:srgbClr val="FF4D9D"/>
                </a:solidFill>
                <a:latin typeface="Poppins"/>
              </a:rPr>
              <a:t>CÓMO FUNCIONA </a:t>
            </a:r>
            <a:r>
              <a:rPr sz="1600" b="1">
                <a:solidFill>
                  <a:srgbClr val="FF4D9D"/>
                </a:solidFill>
                <a:latin typeface="Poppins"/>
              </a:rPr>
              <a:t>MCP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77240" y="1481328"/>
            <a:ext cx="167335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s-ES" sz="4000" b="1">
                <a:solidFill>
                  <a:srgbClr val="FFFFFF"/>
                </a:solidFill>
                <a:latin typeface="Poppins"/>
              </a:rPr>
              <a:t>Descubrimiento y ejecución con MCP</a:t>
            </a:r>
            <a:endParaRPr sz="4000" b="1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217" name="Rounded Rectangle 216"/>
          <p:cNvSpPr/>
          <p:nvPr/>
        </p:nvSpPr>
        <p:spPr>
          <a:xfrm>
            <a:off x="594360" y="2788920"/>
            <a:ext cx="7942288" cy="5554306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921395" y="3143450"/>
            <a:ext cx="7288217" cy="4937760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lang="es-ES" sz="2750">
                <a:solidFill>
                  <a:srgbClr val="DCC5FF"/>
                </a:solidFill>
                <a:latin typeface="Consolas"/>
              </a:rPr>
              <a:t>MCP Host      Copilot, tu chat, tu app</a:t>
            </a:r>
          </a:p>
          <a:p>
            <a:pPr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lang="es-ES" sz="2750">
                <a:solidFill>
                  <a:srgbClr val="DCC5FF"/>
                </a:solidFill>
                <a:latin typeface="Consolas"/>
              </a:rPr>
              <a:t>     ↓</a:t>
            </a:r>
          </a:p>
          <a:p>
            <a:pPr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lang="es-ES" sz="2750">
                <a:solidFill>
                  <a:srgbClr val="DCC5FF"/>
                </a:solidFill>
                <a:latin typeface="Consolas"/>
              </a:rPr>
              <a:t>MCP Client    abre la conexión</a:t>
            </a:r>
          </a:p>
          <a:p>
            <a:pPr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lang="es-ES" sz="2750">
                <a:solidFill>
                  <a:srgbClr val="DCC5FF"/>
                </a:solidFill>
                <a:latin typeface="Consolas"/>
              </a:rPr>
              <a:t>     ↓</a:t>
            </a:r>
          </a:p>
          <a:p>
            <a:pPr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lang="es-ES" sz="2750">
                <a:solidFill>
                  <a:srgbClr val="DCC5FF"/>
                </a:solidFill>
                <a:latin typeface="Consolas"/>
              </a:rPr>
              <a:t>MCP Server    TechRiders.Mcp</a:t>
            </a:r>
          </a:p>
          <a:p>
            <a:pPr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lang="es-ES" sz="2750">
                <a:solidFill>
                  <a:srgbClr val="DCC5FF"/>
                </a:solidFill>
                <a:latin typeface="Consolas"/>
              </a:rPr>
              <a:t>     ↓</a:t>
            </a:r>
          </a:p>
          <a:p>
            <a:pPr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lang="es-ES" sz="2750">
                <a:solidFill>
                  <a:srgbClr val="DCC5FF"/>
                </a:solidFill>
                <a:latin typeface="Consolas"/>
              </a:rPr>
              <a:t>Tools         GetPendingEvents</a:t>
            </a:r>
          </a:p>
          <a:p>
            <a:pPr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lang="es-ES" sz="2750">
                <a:solidFill>
                  <a:srgbClr val="DCC5FF"/>
                </a:solidFill>
                <a:latin typeface="Consolas"/>
              </a:rPr>
              <a:t>              GetEventReviewContext</a:t>
            </a:r>
          </a:p>
          <a:p>
            <a:pPr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lang="es-ES" sz="2750">
                <a:solidFill>
                  <a:srgbClr val="DCC5FF"/>
                </a:solidFill>
                <a:latin typeface="Consolas"/>
              </a:rPr>
              <a:t>              CancelEvent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9283903" y="2788920"/>
            <a:ext cx="8409736" cy="5632704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340" b="1">
                <a:solidFill>
                  <a:srgbClr val="FFFFFF"/>
                </a:solidFill>
                <a:latin typeface="Poppins"/>
              </a:rPr>
              <a:t>1 · El cliente se conecta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320" b="0">
                <a:solidFill>
                  <a:srgbClr val="DCC5FF"/>
                </a:solidFill>
                <a:latin typeface="Poppins"/>
              </a:rPr>
              <a:t>initialize: se acuerdan versión y capacidades. Una sola vez, por HTTP.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340" b="1">
                <a:solidFill>
                  <a:srgbClr val="FFFFFF"/>
                </a:solidFill>
                <a:latin typeface="Poppins"/>
              </a:rPr>
              <a:t>2 · El servidor se describe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320" b="0">
                <a:solidFill>
                  <a:srgbClr val="DCC5FF"/>
                </a:solidFill>
                <a:latin typeface="Poppins"/>
              </a:rPr>
              <a:t>tools/list devuelve cada tool con nombre, descripción, esquema de argumentos y si modifica el estado.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340" b="1">
                <a:solidFill>
                  <a:srgbClr val="FFFFFF"/>
                </a:solidFill>
                <a:latin typeface="Poppins"/>
              </a:rPr>
              <a:t>3 · El modelo elige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320" b="0">
                <a:solidFill>
                  <a:srgbClr val="DCC5FF"/>
                </a:solidFill>
                <a:latin typeface="Poppins"/>
              </a:rPr>
              <a:t>Con esa descripción decide qué tool encaja con la intención. No construye una URL: elige una capacidad.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340" b="1">
                <a:solidFill>
                  <a:srgbClr val="FFFFFF"/>
                </a:solidFill>
                <a:latin typeface="Poppins"/>
              </a:rPr>
              <a:t>4 · Se ejecuta y vuelve tipado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320" b="0">
                <a:solidFill>
                  <a:srgbClr val="DCC5FF"/>
                </a:solidFill>
                <a:latin typeface="Poppins"/>
              </a:rPr>
              <a:t>tools/call con argumentos validados contra el esquema. La respuesta vuelve estructurada, lista para razonar sobre ella.</a:t>
            </a:r>
          </a:p>
        </p:txBody>
      </p:sp>
      <p:sp>
        <p:nvSpPr>
          <p:cNvPr id="901" name="Pie"/>
          <p:cNvSpPr txBox="1"/>
          <p:nvPr/>
        </p:nvSpPr>
        <p:spPr>
          <a:xfrm>
            <a:off x="594360" y="8622792"/>
            <a:ext cx="17099280" cy="630936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320" b="1">
                <a:solidFill>
                  <a:srgbClr val="FFFFFF"/>
                </a:solidFill>
                <a:latin typeface="Poppins"/>
              </a:rPr>
              <a:t>El protocolo define el intercambio. El servidor conserva la validación y los controles de cada operación.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" grpId="0"/>
      <p:bldP spid="90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77240" y="1170432"/>
            <a:ext cx="1673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4D9D"/>
                </a:solidFill>
                <a:latin typeface="Poppins"/>
              </a:rPr>
              <a:t>DISEÑO DE TOOLS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77240" y="1481328"/>
            <a:ext cx="167335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Poppins"/>
              </a:rPr>
              <a:t>Una tool representa una capacidad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594360" y="2788920"/>
            <a:ext cx="3195602" cy="1371600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200" b="1">
                <a:solidFill>
                  <a:srgbClr val="FFFFFF"/>
                </a:solidFill>
                <a:latin typeface="Poppins"/>
              </a:rPr>
              <a:t>Nombre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4070278" y="2788920"/>
            <a:ext cx="3195602" cy="1371600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200" b="1">
                <a:solidFill>
                  <a:srgbClr val="FFFFFF"/>
                </a:solidFill>
                <a:latin typeface="Poppins"/>
              </a:rPr>
              <a:t>Descripción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7546197" y="2788920"/>
            <a:ext cx="3195602" cy="1371600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120" b="1">
                <a:solidFill>
                  <a:srgbClr val="FFFFFF"/>
                </a:solidFill>
                <a:latin typeface="Poppins"/>
              </a:rPr>
              <a:t>Argumentos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11022116" y="2788920"/>
            <a:ext cx="3195602" cy="1371600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200" b="1">
                <a:solidFill>
                  <a:srgbClr val="FFFFFF"/>
                </a:solidFill>
                <a:latin typeface="Poppins"/>
              </a:rPr>
              <a:t>Resultado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14498035" y="2788920"/>
            <a:ext cx="3195602" cy="1371600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200" b="1">
                <a:solidFill>
                  <a:srgbClr val="FFFFFF"/>
                </a:solidFill>
                <a:latin typeface="Poppins"/>
              </a:rPr>
              <a:t>Efectos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594360" y="7474024"/>
            <a:ext cx="17099280" cy="1798569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400" b="1">
                <a:solidFill>
                  <a:srgbClr val="FF4D9D"/>
                </a:solidFill>
                <a:latin typeface="Poppins"/>
              </a:rPr>
              <a:t>Cada tool publica una capacidad de Application.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980" b="0">
                <a:solidFill>
                  <a:srgbClr val="D9D9D9"/>
                </a:solidFill>
                <a:latin typeface="Poppins"/>
              </a:rPr>
              <a:t>Las anotaciones describen comportamiento. No sustituyen la autorización, la confirmación ni la idempotencia del servidor.</a:t>
            </a:r>
          </a:p>
        </p:txBody>
      </p:sp>
      <p:sp>
        <p:nvSpPr>
          <p:cNvPr id="930" name="Ejemplo 1"/>
          <p:cNvSpPr txBox="1"/>
          <p:nvPr/>
        </p:nvSpPr>
        <p:spPr>
          <a:xfrm>
            <a:off x="594360" y="4343400"/>
            <a:ext cx="3195602" cy="2971800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960" b="0">
                <a:solidFill>
                  <a:srgbClr val="FF4D9D"/>
                </a:solidFill>
                <a:latin typeface="Consolas"/>
              </a:rPr>
              <a:t>CancelEvent</a:t>
            </a:r>
          </a:p>
          <a:p>
            <a:pPr algn="ctr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170" b="0" i="1">
                <a:solidFill>
                  <a:srgbClr val="DCC5FF"/>
                </a:solidFill>
                <a:latin typeface="Poppins"/>
              </a:rPr>
              <a:t>qué capacidad es, no qué URL</a:t>
            </a:r>
          </a:p>
        </p:txBody>
      </p:sp>
      <p:sp>
        <p:nvSpPr>
          <p:cNvPr id="931" name="Ejemplo 2"/>
          <p:cNvSpPr txBox="1"/>
          <p:nvPr/>
        </p:nvSpPr>
        <p:spPr>
          <a:xfrm>
            <a:off x="4070278" y="4343400"/>
            <a:ext cx="3195602" cy="2971800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330" b="0">
                <a:solidFill>
                  <a:srgbClr val="FF4D9D"/>
                </a:solidFill>
                <a:latin typeface="Consolas"/>
              </a:rPr>
              <a:t>"Cancela un evento pendiente"</a:t>
            </a:r>
          </a:p>
          <a:p>
            <a:pPr algn="ctr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550" b="0" i="1">
                <a:solidFill>
                  <a:srgbClr val="DCC5FF"/>
                </a:solidFill>
                <a:latin typeface="Poppins"/>
              </a:rPr>
              <a:t>Descripción de la operación y su efecto</a:t>
            </a:r>
          </a:p>
        </p:txBody>
      </p:sp>
      <p:sp>
        <p:nvSpPr>
          <p:cNvPr id="932" name="Ejemplo 3"/>
          <p:cNvSpPr txBox="1"/>
          <p:nvPr/>
        </p:nvSpPr>
        <p:spPr>
          <a:xfrm>
            <a:off x="7546197" y="4343400"/>
            <a:ext cx="3195602" cy="2971800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820" b="0">
                <a:solidFill>
                  <a:srgbClr val="FF4D9D"/>
                </a:solidFill>
                <a:latin typeface="Consolas"/>
              </a:rPr>
              <a:t>eventId: string</a:t>
            </a:r>
          </a:p>
          <a:p>
            <a:pPr algn="ctr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820" b="0">
                <a:solidFill>
                  <a:srgbClr val="FF4D9D"/>
                </a:solidFill>
                <a:latin typeface="Consolas"/>
              </a:rPr>
              <a:t>reason: string</a:t>
            </a:r>
          </a:p>
          <a:p>
            <a:pPr algn="ctr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010" b="0" i="1">
                <a:solidFill>
                  <a:srgbClr val="DCC5FF"/>
                </a:solidFill>
                <a:latin typeface="Poppins"/>
              </a:rPr>
              <a:t>qué necesito que me digas</a:t>
            </a:r>
          </a:p>
        </p:txBody>
      </p:sp>
      <p:sp>
        <p:nvSpPr>
          <p:cNvPr id="933" name="Ejemplo 4"/>
          <p:cNvSpPr txBox="1"/>
          <p:nvPr/>
        </p:nvSpPr>
        <p:spPr>
          <a:xfrm>
            <a:off x="11022116" y="4343400"/>
            <a:ext cx="3195602" cy="2971800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390" b="0">
                <a:solidFill>
                  <a:srgbClr val="FF4D9D"/>
                </a:solidFill>
                <a:latin typeface="Consolas"/>
              </a:rPr>
              <a:t>alreadyApplied: bool</a:t>
            </a:r>
          </a:p>
          <a:p>
            <a:pPr algn="ctr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390" b="0">
                <a:solidFill>
                  <a:srgbClr val="FF4D9D"/>
                </a:solidFill>
                <a:latin typeface="Consolas"/>
              </a:rPr>
              <a:t>cancelledAt: date</a:t>
            </a:r>
          </a:p>
          <a:p>
            <a:pPr algn="ctr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620" b="0" i="1">
                <a:solidFill>
                  <a:srgbClr val="DCC5FF"/>
                </a:solidFill>
                <a:latin typeface="Poppins"/>
              </a:rPr>
              <a:t>qué te devuelvo para que decidas</a:t>
            </a:r>
          </a:p>
        </p:txBody>
      </p:sp>
      <p:sp>
        <p:nvSpPr>
          <p:cNvPr id="934" name="Ejemplo 5"/>
          <p:cNvSpPr txBox="1"/>
          <p:nvPr/>
        </p:nvSpPr>
        <p:spPr>
          <a:xfrm>
            <a:off x="14498035" y="4343400"/>
            <a:ext cx="3195602" cy="2971800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300" b="0" i="0">
                <a:solidFill>
                  <a:srgbClr val="FF4D9D"/>
                </a:solidFill>
                <a:latin typeface="Consolas"/>
              </a:rPr>
              <a:t>readOnlyHint: false</a:t>
            </a:r>
          </a:p>
          <a:p>
            <a:pPr algn="ctr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300" b="0" i="0">
                <a:solidFill>
                  <a:srgbClr val="FF4D9D"/>
                </a:solidFill>
                <a:latin typeface="Consolas"/>
              </a:rPr>
              <a:t>destructiveHint: true</a:t>
            </a:r>
          </a:p>
          <a:p>
            <a:pPr algn="ctr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300" b="0" i="0">
                <a:solidFill>
                  <a:srgbClr val="FF4D9D"/>
                </a:solidFill>
                <a:latin typeface="Consolas"/>
              </a:rPr>
              <a:t>idempotentHint: true</a:t>
            </a:r>
          </a:p>
          <a:p>
            <a:pPr algn="ctr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300" b="0" i="0">
                <a:solidFill>
                  <a:srgbClr val="FF4D9D"/>
                </a:solidFill>
                <a:latin typeface="Consolas"/>
              </a:rPr>
              <a:t>openWorldHint: false</a:t>
            </a:r>
          </a:p>
          <a:p>
            <a:pPr algn="ctr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300" b="0" i="1">
                <a:solidFill>
                  <a:srgbClr val="DCC5FF"/>
                </a:solidFill>
                <a:latin typeface="Poppins"/>
              </a:rPr>
              <a:t>si lee o cambia, si se puede repetir y si sale fuera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" grpId="0" animBg="1"/>
      <p:bldP spid="219" grpId="0" animBg="1"/>
      <p:bldP spid="220" grpId="0" animBg="1"/>
      <p:bldP spid="221" grpId="0" animBg="1"/>
      <p:bldP spid="222" grpId="0"/>
      <p:bldP spid="931" grpId="0"/>
      <p:bldP spid="932" grpId="0"/>
      <p:bldP spid="933" grpId="0"/>
      <p:bldP spid="93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5" name="Consolidated 215"/>
          <p:cNvSpPr txBox="1"/>
          <p:nvPr/>
        </p:nvSpPr>
        <p:spPr>
          <a:xfrm>
            <a:off x="777240" y="1170432"/>
            <a:ext cx="1673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4D9D"/>
                </a:solidFill>
                <a:latin typeface="Poppins"/>
              </a:rPr>
              <a:t>ADAPTADORES</a:t>
            </a:r>
          </a:p>
        </p:txBody>
      </p:sp>
      <p:sp>
        <p:nvSpPr>
          <p:cNvPr id="216" name="Consolidated 216"/>
          <p:cNvSpPr txBox="1"/>
          <p:nvPr/>
        </p:nvSpPr>
        <p:spPr>
          <a:xfrm>
            <a:off x="777240" y="1481328"/>
            <a:ext cx="167335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Poppins"/>
              </a:rPr>
              <a:t>REST y MCP sobre el mismo núcleo</a:t>
            </a:r>
          </a:p>
        </p:txBody>
      </p:sp>
      <p:sp>
        <p:nvSpPr>
          <p:cNvPr id="218" name="Consolidated 218"/>
          <p:cNvSpPr txBox="1"/>
          <p:nvPr/>
        </p:nvSpPr>
        <p:spPr>
          <a:xfrm>
            <a:off x="921395" y="2788920"/>
            <a:ext cx="8596359" cy="5141151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000">
                <a:solidFill>
                  <a:srgbClr val="DCC5FF"/>
                </a:solidFill>
                <a:latin typeface="Consolas"/>
              </a:rPr>
              <a:t>Frontend y aplicaciones</a:t>
            </a:r>
          </a:p>
          <a:p>
            <a:pPr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000">
                <a:solidFill>
                  <a:srgbClr val="DCC5FF"/>
                </a:solidFill>
                <a:latin typeface="Consolas"/>
              </a:rPr>
              <a:t>    TechRiders.Api (REST)</a:t>
            </a:r>
          </a:p>
          <a:p>
            <a:pPr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000">
                <a:solidFill>
                  <a:srgbClr val="DCC5FF"/>
                </a:solidFill>
                <a:latin typeface="Consolas"/>
              </a:rPr>
              <a:t>Agentes y clientes MCP</a:t>
            </a:r>
          </a:p>
          <a:p>
            <a:pPr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000">
                <a:solidFill>
                  <a:srgbClr val="DCC5FF"/>
                </a:solidFill>
                <a:latin typeface="Consolas"/>
              </a:rPr>
              <a:t>    TechRiders.Mcp (tools)</a:t>
            </a:r>
          </a:p>
          <a:p>
            <a:pPr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000">
                <a:solidFill>
                  <a:srgbClr val="DCC5FF"/>
                </a:solidFill>
                <a:latin typeface="Consolas"/>
              </a:rPr>
              <a:t>Núcleo compartido</a:t>
            </a:r>
          </a:p>
          <a:p>
            <a:pPr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000">
                <a:solidFill>
                  <a:srgbClr val="DCC5FF"/>
                </a:solidFill>
                <a:latin typeface="Consolas"/>
              </a:rPr>
              <a:t>    TechRiders.Application</a:t>
            </a:r>
            <a:endParaRPr lang="es-ES" sz="2000">
              <a:solidFill>
                <a:srgbClr val="C79DFF"/>
              </a:solidFill>
              <a:latin typeface="Consolas"/>
            </a:endParaRPr>
          </a:p>
          <a:p>
            <a:pPr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000">
                <a:solidFill>
                  <a:srgbClr val="DCC5FF"/>
                </a:solidFill>
                <a:latin typeface="Consolas"/>
              </a:rPr>
              <a:t>    Domain e Infrastructure</a:t>
            </a:r>
          </a:p>
        </p:txBody>
      </p:sp>
      <p:sp>
        <p:nvSpPr>
          <p:cNvPr id="219" name="Consolidated 219"/>
          <p:cNvSpPr txBox="1"/>
          <p:nvPr/>
        </p:nvSpPr>
        <p:spPr>
          <a:xfrm>
            <a:off x="10265264" y="2788920"/>
            <a:ext cx="7428375" cy="5978047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560" b="1">
                <a:solidFill>
                  <a:srgbClr val="FFFFFF"/>
                </a:solidFill>
                <a:latin typeface="Poppins"/>
              </a:rPr>
              <a:t>Dos adaptadores de entrada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180" b="0">
                <a:solidFill>
                  <a:srgbClr val="DCC5FF"/>
                </a:solidFill>
                <a:latin typeface="Poppins"/>
              </a:rPr>
              <a:t>Api y Mcp exponen los mismos casos de uso.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560" b="1">
                <a:solidFill>
                  <a:srgbClr val="FFFFFF"/>
                </a:solidFill>
                <a:latin typeface="Poppins"/>
              </a:rPr>
              <a:t>Dependencias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180" b="0">
                <a:solidFill>
                  <a:srgbClr val="DCC5FF"/>
                </a:solidFill>
                <a:latin typeface="Poppins"/>
              </a:rPr>
              <a:t>Mcp referencia Application e Infrastructure, sin pasar por Api.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560" b="1">
                <a:solidFill>
                  <a:srgbClr val="FFFFFF"/>
                </a:solidFill>
                <a:latin typeface="Poppins"/>
              </a:rPr>
              <a:t>Tools de eventos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180" b="0">
                <a:solidFill>
                  <a:srgbClr val="DCC5FF"/>
                </a:solidFill>
                <a:latin typeface="Poppins"/>
              </a:rPr>
              <a:t>get_pending_events, get_event_review_context y cancel_event.</a:t>
            </a:r>
          </a:p>
        </p:txBody>
      </p:sp>
    </p:spTree>
    <p:extLst>
      <p:ext uri="{BB962C8B-B14F-4D97-AF65-F5344CB8AC3E}">
        <p14:creationId xmlns:p14="http://schemas.microsoft.com/office/powerpoint/2010/main" val="13269787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77240" y="1170432"/>
            <a:ext cx="1371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FF4D9D"/>
                </a:solidFill>
                <a:latin typeface="Poppins"/>
              </a:rPr>
              <a:t>DEMO 3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77240" y="1481328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Poppins"/>
              </a:rPr>
              <a:t>Demo 3 · MCP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594360" y="3255452"/>
            <a:ext cx="17099280" cy="5998275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222" name="TextBox 221"/>
          <p:cNvSpPr txBox="1"/>
          <p:nvPr/>
        </p:nvSpPr>
        <p:spPr>
          <a:xfrm>
            <a:off x="1478030" y="4051724"/>
            <a:ext cx="15697699" cy="4241482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500" b="1" dirty="0">
                <a:solidFill>
                  <a:srgbClr val="FFFFFF"/>
                </a:solidFill>
                <a:latin typeface="Poppins"/>
              </a:rPr>
              <a:t>Recorrido de la demo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500" b="0" dirty="0" err="1">
                <a:solidFill>
                  <a:srgbClr val="FFFFFF"/>
                </a:solidFill>
                <a:latin typeface="Poppins"/>
              </a:rPr>
              <a:t>get_pending_events</a:t>
            </a:r>
            <a:r>
              <a:rPr lang="es-ES" sz="3500" b="0" dirty="0">
                <a:solidFill>
                  <a:srgbClr val="FFFFFF"/>
                </a:solidFill>
                <a:latin typeface="Poppins"/>
              </a:rPr>
              <a:t>, </a:t>
            </a:r>
            <a:r>
              <a:rPr lang="es-ES" sz="3500" b="0" dirty="0" err="1">
                <a:solidFill>
                  <a:srgbClr val="FFFFFF"/>
                </a:solidFill>
                <a:latin typeface="Poppins"/>
              </a:rPr>
              <a:t>get_event_review_context</a:t>
            </a:r>
            <a:r>
              <a:rPr lang="es-ES" sz="3500" b="0" dirty="0">
                <a:solidFill>
                  <a:srgbClr val="FFFFFF"/>
                </a:solidFill>
                <a:latin typeface="Poppins"/>
              </a:rPr>
              <a:t> y propuesta de cancelación.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500" b="1" dirty="0">
                <a:solidFill>
                  <a:srgbClr val="FFFFFF"/>
                </a:solidFill>
                <a:latin typeface="Poppins"/>
              </a:rPr>
              <a:t>Después de confirmar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500" b="0" dirty="0" err="1">
                <a:solidFill>
                  <a:srgbClr val="FFFFFF"/>
                </a:solidFill>
                <a:latin typeface="Poppins"/>
              </a:rPr>
              <a:t>cancel_event</a:t>
            </a:r>
            <a:r>
              <a:rPr lang="es-ES" sz="3500" b="0" dirty="0">
                <a:solidFill>
                  <a:srgbClr val="FFFFFF"/>
                </a:solidFill>
                <a:latin typeface="Poppins"/>
              </a:rPr>
              <a:t> ejecuta el mismo caso de uso de </a:t>
            </a:r>
            <a:r>
              <a:rPr lang="es-ES" sz="3500" b="0" dirty="0" err="1">
                <a:solidFill>
                  <a:srgbClr val="FFFFFF"/>
                </a:solidFill>
                <a:latin typeface="Poppins"/>
              </a:rPr>
              <a:t>Application</a:t>
            </a:r>
            <a:r>
              <a:rPr lang="es-ES" sz="3500" b="0" dirty="0">
                <a:solidFill>
                  <a:srgbClr val="FFFFFF"/>
                </a:solidFill>
                <a:latin typeface="Poppins"/>
              </a:rPr>
              <a:t> que REST.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77240" y="1170432"/>
            <a:ext cx="1673352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4D9D"/>
                </a:solidFill>
                <a:latin typeface="Poppins"/>
              </a:rPr>
              <a:t>SECCIÓN 04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77240" y="3017520"/>
            <a:ext cx="16733520" cy="29093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600"/>
              </a:spcAft>
            </a:pPr>
            <a:r>
              <a:rPr lang="es-ES" sz="6000" b="1">
                <a:solidFill>
                  <a:srgbClr val="D9D9D9"/>
                </a:solidFill>
                <a:latin typeface="Poppins"/>
              </a:rPr>
              <a:t>Telemetría con Aspire</a:t>
            </a:r>
            <a:endParaRPr sz="5400" b="1">
              <a:solidFill>
                <a:srgbClr val="D9D9D9"/>
              </a:solidFill>
              <a:latin typeface="Poppins"/>
            </a:endParaRPr>
          </a:p>
          <a:p>
            <a:pPr algn="l">
              <a:spcAft>
                <a:spcPts val="2600"/>
              </a:spcAft>
            </a:pPr>
            <a:endParaRPr sz="5400" b="1">
              <a:solidFill>
                <a:srgbClr val="D9D9D9"/>
              </a:solidFill>
              <a:latin typeface="Poppins"/>
            </a:endParaRPr>
          </a:p>
          <a:p>
            <a:pPr algn="l">
              <a:spcAft>
                <a:spcPts val="0"/>
              </a:spcAft>
            </a:pPr>
            <a:r>
              <a:rPr lang="es-ES" sz="3172" b="1">
                <a:solidFill>
                  <a:srgbClr val="FF4D9D"/>
                </a:solidFill>
                <a:latin typeface="Poppins"/>
              </a:rPr>
              <a:t>Una sola traza que va de la intención al efecto real.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77240" y="1170432"/>
            <a:ext cx="1673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4D9D"/>
                </a:solidFill>
                <a:latin typeface="Poppins"/>
              </a:rPr>
              <a:t>QUÉ ES ASPIRE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77240" y="1481328"/>
            <a:ext cx="167335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Poppins"/>
              </a:rPr>
              <a:t>Orquestación y </a:t>
            </a:r>
            <a:r>
              <a:rPr lang="es-ES" sz="4000" b="1">
                <a:solidFill>
                  <a:srgbClr val="FFFFFF"/>
                </a:solidFill>
                <a:latin typeface="Poppins"/>
              </a:rPr>
              <a:t>observabilidad con Aspire</a:t>
            </a:r>
            <a:endParaRPr sz="4000" b="1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970" name="Nota 1"/>
          <p:cNvSpPr/>
          <p:nvPr/>
        </p:nvSpPr>
        <p:spPr>
          <a:xfrm>
            <a:off x="594360" y="2788920"/>
            <a:ext cx="5512881" cy="5596128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411480" rIns="210312" bIns="274320" rtlCol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120" b="1">
                <a:solidFill>
                  <a:srgbClr val="FFFFFF"/>
                </a:solidFill>
                <a:latin typeface="Poppins"/>
              </a:rPr>
              <a:t>Un host para la</a:t>
            </a:r>
            <a:br>
              <a:rPr lang="es-ES" sz="3320" b="1">
                <a:solidFill>
                  <a:srgbClr val="FFFFFF"/>
                </a:solidFill>
                <a:latin typeface="Poppins"/>
              </a:rPr>
            </a:br>
            <a:r>
              <a:rPr lang="es-ES" sz="3120" b="1">
                <a:solidFill>
                  <a:srgbClr val="FFFFFF"/>
                </a:solidFill>
                <a:latin typeface="Poppins"/>
              </a:rPr>
              <a:t>solución distribuida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873" b="0">
                <a:solidFill>
                  <a:srgbClr val="DCC5FF"/>
                </a:solidFill>
                <a:latin typeface="Poppins"/>
              </a:rPr>
              <a:t>Levanta la API, el servidor MCP y el agente juntos, con descubrimiento de servicios y configuración compartida.</a:t>
            </a:r>
          </a:p>
        </p:txBody>
      </p:sp>
      <p:sp>
        <p:nvSpPr>
          <p:cNvPr id="971" name="Nota 2"/>
          <p:cNvSpPr/>
          <p:nvPr/>
        </p:nvSpPr>
        <p:spPr>
          <a:xfrm>
            <a:off x="6387557" y="2788920"/>
            <a:ext cx="5512881" cy="5596128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660" b="1">
                <a:solidFill>
                  <a:srgbClr val="FFFFFF"/>
                </a:solidFill>
                <a:latin typeface="Poppins"/>
              </a:rPr>
              <a:t>OpenTelemetry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170" b="0">
                <a:solidFill>
                  <a:srgbClr val="DCC5FF"/>
                </a:solidFill>
                <a:latin typeface="Poppins"/>
              </a:rPr>
              <a:t>Correlaciona trazas, métricas y logs. Los pasos propios del agente y del negocio requieren la instrumentación correspondiente.</a:t>
            </a:r>
          </a:p>
        </p:txBody>
      </p:sp>
      <p:sp>
        <p:nvSpPr>
          <p:cNvPr id="972" name="Nota 3"/>
          <p:cNvSpPr/>
          <p:nvPr/>
        </p:nvSpPr>
        <p:spPr>
          <a:xfrm>
            <a:off x="12180756" y="2788920"/>
            <a:ext cx="5512881" cy="5596128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660" b="1">
                <a:solidFill>
                  <a:srgbClr val="FFFFFF"/>
                </a:solidFill>
                <a:latin typeface="Poppins"/>
              </a:rPr>
              <a:t>Un dashboard</a:t>
            </a:r>
            <a:br>
              <a:rPr lang="es-ES" sz="3660" b="1">
                <a:solidFill>
                  <a:srgbClr val="FFFFFF"/>
                </a:solidFill>
                <a:latin typeface="Poppins"/>
              </a:rPr>
            </a:br>
            <a:r>
              <a:rPr lang="es-ES" sz="3660" b="1">
                <a:solidFill>
                  <a:srgbClr val="FFFFFF"/>
                </a:solidFill>
                <a:latin typeface="Poppins"/>
              </a:rPr>
              <a:t>para mirar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170" b="0">
                <a:solidFill>
                  <a:srgbClr val="DCC5FF"/>
                </a:solidFill>
                <a:latin typeface="Poppins"/>
              </a:rPr>
              <a:t>La traza completa de una petición en una sola pantalla, en lugar de cuatro consolas abiertas.</a:t>
            </a:r>
          </a:p>
        </p:txBody>
      </p:sp>
      <p:sp>
        <p:nvSpPr>
          <p:cNvPr id="973" name="Pie"/>
          <p:cNvSpPr txBox="1"/>
          <p:nvPr/>
        </p:nvSpPr>
        <p:spPr>
          <a:xfrm>
            <a:off x="594360" y="8622792"/>
            <a:ext cx="17099280" cy="630936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900" b="0">
                <a:solidFill>
                  <a:srgbClr val="DCC5FF"/>
                </a:solidFill>
                <a:latin typeface="Consolas"/>
              </a:rPr>
              <a:t>Aspire no es el agente ni el servidor MCP: es cómo los levantamos y los observamos.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1" grpId="0" animBg="1"/>
      <p:bldP spid="972" grpId="0" animBg="1"/>
      <p:bldP spid="97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77240" y="1170432"/>
            <a:ext cx="1673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4D9D"/>
                </a:solidFill>
                <a:latin typeface="Poppins"/>
              </a:rPr>
              <a:t>OBSERVABILIDAD DE EXTREMO A EXTREMO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77240" y="1481328"/>
            <a:ext cx="167335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Poppins"/>
              </a:rPr>
              <a:t>Una única traza completa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594360" y="3093010"/>
            <a:ext cx="9811062" cy="4949618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921395" y="3496008"/>
            <a:ext cx="9156991" cy="4691412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670" err="1">
                <a:solidFill>
                  <a:srgbClr val="DCC5FF"/>
                </a:solidFill>
                <a:latin typeface="Consolas"/>
              </a:rPr>
              <a:t>User</a:t>
            </a:r>
            <a:r>
              <a:rPr lang="es-ES" sz="2670">
                <a:solidFill>
                  <a:srgbClr val="DCC5FF"/>
                </a:solidFill>
                <a:latin typeface="Consolas"/>
              </a:rPr>
              <a:t> </a:t>
            </a:r>
            <a:r>
              <a:rPr lang="es-ES" sz="2670" err="1">
                <a:solidFill>
                  <a:srgbClr val="DCC5FF"/>
                </a:solidFill>
                <a:latin typeface="Consolas"/>
              </a:rPr>
              <a:t>request</a:t>
            </a:r>
            <a:endParaRPr lang="es-ES" sz="2800">
              <a:solidFill>
                <a:srgbClr val="C79DFF"/>
              </a:solidFill>
              <a:latin typeface="Consolas"/>
            </a:endParaRPr>
          </a:p>
          <a:p>
            <a:pPr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670">
                <a:solidFill>
                  <a:srgbClr val="DCC5FF"/>
                </a:solidFill>
                <a:latin typeface="Consolas"/>
              </a:rPr>
              <a:t>└── Agent run          tokens in/</a:t>
            </a:r>
            <a:r>
              <a:rPr lang="es-ES" sz="2670" err="1">
                <a:solidFill>
                  <a:srgbClr val="DCC5FF"/>
                </a:solidFill>
                <a:latin typeface="Consolas"/>
              </a:rPr>
              <a:t>out</a:t>
            </a:r>
            <a:r>
              <a:rPr lang="es-ES" sz="2670">
                <a:solidFill>
                  <a:srgbClr val="DCC5FF"/>
                </a:solidFill>
                <a:latin typeface="Consolas"/>
              </a:rPr>
              <a:t> · coste</a:t>
            </a:r>
          </a:p>
          <a:p>
            <a:pPr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670">
                <a:solidFill>
                  <a:srgbClr val="DCC5FF"/>
                </a:solidFill>
                <a:latin typeface="Consolas"/>
              </a:rPr>
              <a:t>    ├── </a:t>
            </a:r>
            <a:r>
              <a:rPr lang="es-ES" sz="2670" err="1">
                <a:solidFill>
                  <a:srgbClr val="DCC5FF"/>
                </a:solidFill>
                <a:latin typeface="Consolas"/>
              </a:rPr>
              <a:t>get_pending_events</a:t>
            </a:r>
            <a:endParaRPr lang="es-ES" sz="2800">
              <a:solidFill>
                <a:srgbClr val="C79DFF"/>
              </a:solidFill>
              <a:latin typeface="Consolas"/>
            </a:endParaRPr>
          </a:p>
          <a:p>
            <a:pPr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670">
                <a:solidFill>
                  <a:srgbClr val="DCC5FF"/>
                </a:solidFill>
                <a:latin typeface="Consolas"/>
              </a:rPr>
              <a:t>    ├── </a:t>
            </a:r>
            <a:r>
              <a:rPr lang="es-ES" sz="2670" err="1">
                <a:solidFill>
                  <a:srgbClr val="DCC5FF"/>
                </a:solidFill>
                <a:latin typeface="Consolas"/>
              </a:rPr>
              <a:t>get_event_review_context</a:t>
            </a:r>
            <a:endParaRPr lang="es-ES" sz="2800">
              <a:solidFill>
                <a:srgbClr val="C79DFF"/>
              </a:solidFill>
              <a:latin typeface="Consolas"/>
            </a:endParaRPr>
          </a:p>
          <a:p>
            <a:pPr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670">
                <a:solidFill>
                  <a:srgbClr val="DCC5FF"/>
                </a:solidFill>
                <a:latin typeface="Consolas"/>
              </a:rPr>
              <a:t>    └── </a:t>
            </a:r>
            <a:r>
              <a:rPr lang="es-ES" sz="2670" err="1">
                <a:solidFill>
                  <a:srgbClr val="DCC5FF"/>
                </a:solidFill>
                <a:latin typeface="Consolas"/>
              </a:rPr>
              <a:t>cancel_event</a:t>
            </a:r>
            <a:endParaRPr lang="es-ES" sz="2800">
              <a:solidFill>
                <a:srgbClr val="C79DFF"/>
              </a:solidFill>
              <a:latin typeface="Consolas"/>
            </a:endParaRPr>
          </a:p>
          <a:p>
            <a:pPr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670">
                <a:solidFill>
                  <a:srgbClr val="DCC5FF"/>
                </a:solidFill>
                <a:latin typeface="Consolas"/>
              </a:rPr>
              <a:t>         ├── </a:t>
            </a:r>
            <a:r>
              <a:rPr lang="es-ES" sz="2670" err="1">
                <a:solidFill>
                  <a:srgbClr val="DCC5FF"/>
                </a:solidFill>
                <a:latin typeface="Consolas"/>
              </a:rPr>
              <a:t>authorization</a:t>
            </a:r>
            <a:endParaRPr lang="es-ES" sz="2800">
              <a:solidFill>
                <a:srgbClr val="C79DFF"/>
              </a:solidFill>
              <a:latin typeface="Consolas"/>
            </a:endParaRPr>
          </a:p>
          <a:p>
            <a:pPr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670">
                <a:solidFill>
                  <a:srgbClr val="DCC5FF"/>
                </a:solidFill>
                <a:latin typeface="Consolas"/>
              </a:rPr>
              <a:t>         ├── </a:t>
            </a:r>
            <a:r>
              <a:rPr lang="es-ES" sz="2670" err="1">
                <a:solidFill>
                  <a:srgbClr val="DCC5FF"/>
                </a:solidFill>
                <a:latin typeface="Consolas"/>
              </a:rPr>
              <a:t>idempotency</a:t>
            </a:r>
            <a:endParaRPr lang="es-ES" sz="2800">
              <a:solidFill>
                <a:srgbClr val="C79DFF"/>
              </a:solidFill>
              <a:latin typeface="Consolas"/>
            </a:endParaRPr>
          </a:p>
          <a:p>
            <a:pPr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670">
                <a:solidFill>
                  <a:srgbClr val="DCC5FF"/>
                </a:solidFill>
                <a:latin typeface="Consolas"/>
              </a:rPr>
              <a:t>         └── </a:t>
            </a:r>
            <a:r>
              <a:rPr lang="es-ES" sz="2670" err="1">
                <a:solidFill>
                  <a:srgbClr val="DCC5FF"/>
                </a:solidFill>
                <a:latin typeface="Consolas"/>
              </a:rPr>
              <a:t>database</a:t>
            </a:r>
            <a:endParaRPr lang="es-ES" sz="2800">
              <a:solidFill>
                <a:srgbClr val="C79DFF"/>
              </a:solidFill>
              <a:latin typeface="Consolas"/>
            </a:endParaRPr>
          </a:p>
        </p:txBody>
      </p:sp>
      <p:sp>
        <p:nvSpPr>
          <p:cNvPr id="219" name="TextBox 218"/>
          <p:cNvSpPr txBox="1"/>
          <p:nvPr/>
        </p:nvSpPr>
        <p:spPr>
          <a:xfrm>
            <a:off x="10919335" y="2788920"/>
            <a:ext cx="6774304" cy="7133235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850" b="1">
                <a:solidFill>
                  <a:srgbClr val="FF4D9D"/>
                </a:solidFill>
                <a:latin typeface="Poppins"/>
              </a:rPr>
              <a:t>Una traza para reconstruir la acción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480" b="0">
                <a:solidFill>
                  <a:srgbClr val="D9D9D9"/>
                </a:solidFill>
                <a:latin typeface="Poppins"/>
              </a:rPr>
              <a:t>Relaciona intención, tool, identidad y efecto con traceId.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850" b="1">
                <a:solidFill>
                  <a:srgbClr val="FFFFFF"/>
                </a:solidFill>
                <a:latin typeface="Poppins"/>
              </a:rPr>
              <a:t>Contexto de la ejecución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480" b="0">
                <a:solidFill>
                  <a:srgbClr val="FF4D9D"/>
                </a:solidFill>
                <a:latin typeface="Poppins"/>
              </a:rPr>
              <a:t>agentRunId y toolCallId identifican pasos. Idempotency-Key relaciona los reintentos.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850" b="1">
                <a:solidFill>
                  <a:srgbClr val="FF4D9D"/>
                </a:solidFill>
                <a:latin typeface="Poppins"/>
              </a:rPr>
              <a:t>Métricas específicas de IA</a:t>
            </a:r>
            <a:endParaRPr lang="es-ES" sz="2400" b="0">
              <a:solidFill>
                <a:srgbClr val="FF4D9D"/>
              </a:solidFill>
              <a:latin typeface="Poppins"/>
            </a:endParaRP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480" b="0">
                <a:solidFill>
                  <a:srgbClr val="FF4D9D"/>
                </a:solidFill>
                <a:latin typeface="Poppins"/>
              </a:rPr>
              <a:t>Tokens y coste por ejecución.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850" b="1">
                <a:solidFill>
                  <a:srgbClr val="FF4D9D"/>
                </a:solidFill>
                <a:latin typeface="Poppins"/>
              </a:rPr>
              <a:t>Diagnóstico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480" b="0">
                <a:solidFill>
                  <a:srgbClr val="FF4D9D"/>
                </a:solidFill>
                <a:latin typeface="Poppins"/>
              </a:rPr>
              <a:t>Contexto enviado, reintentos, número de pasos y valoración de las respuestas.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77240" y="1170432"/>
            <a:ext cx="1673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4D9D"/>
                </a:solidFill>
                <a:latin typeface="Poppins"/>
              </a:rPr>
              <a:t>LO QUE LA TRAZA TE PERMITE AJUSTAR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77240" y="1481328"/>
            <a:ext cx="167335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Poppins"/>
              </a:rPr>
              <a:t>Grounding, routing y harness</a:t>
            </a:r>
          </a:p>
        </p:txBody>
      </p:sp>
      <p:sp>
        <p:nvSpPr>
          <p:cNvPr id="970" name="Nota 1"/>
          <p:cNvSpPr/>
          <p:nvPr/>
        </p:nvSpPr>
        <p:spPr>
          <a:xfrm>
            <a:off x="594360" y="2788920"/>
            <a:ext cx="5512881" cy="5596128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4000" b="1">
                <a:solidFill>
                  <a:srgbClr val="FFFFFF"/>
                </a:solidFill>
                <a:latin typeface="Poppins"/>
              </a:rPr>
              <a:t>Grounding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010" b="0">
                <a:solidFill>
                  <a:srgbClr val="DCC5FF"/>
                </a:solidFill>
                <a:latin typeface="Poppins"/>
              </a:rPr>
              <a:t>Qué contexto le damos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010" b="0">
                <a:solidFill>
                  <a:srgbClr val="DCC5FF"/>
                </a:solidFill>
                <a:latin typeface="Poppins"/>
              </a:rPr>
              <a:t>Comparamos los datos disponibles con la decisión. La traza ayuda a detectar ruido, hechos ausentes y errores de interpretación.</a:t>
            </a:r>
          </a:p>
        </p:txBody>
      </p:sp>
      <p:sp>
        <p:nvSpPr>
          <p:cNvPr id="971" name="Nota 2"/>
          <p:cNvSpPr/>
          <p:nvPr/>
        </p:nvSpPr>
        <p:spPr>
          <a:xfrm>
            <a:off x="6387557" y="2788920"/>
            <a:ext cx="5512881" cy="5596128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540" b="1">
                <a:solidFill>
                  <a:srgbClr val="FFFFFF"/>
                </a:solidFill>
                <a:latin typeface="Poppins"/>
              </a:rPr>
              <a:t>Routing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920" b="0">
                <a:solidFill>
                  <a:srgbClr val="DCC5FF"/>
                </a:solidFill>
                <a:latin typeface="Poppins"/>
              </a:rPr>
              <a:t>Qué modelo o tool atiende cada paso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920" b="0">
                <a:solidFill>
                  <a:srgbClr val="DCC5FF"/>
                </a:solidFill>
                <a:latin typeface="Poppins"/>
              </a:rPr>
              <a:t>Ves qué pasos son caros, lentos o repetitivos. Ese es el criterio para mandar lo simple a un modelo pequeño y reservar el grande para lo que razona.</a:t>
            </a:r>
          </a:p>
        </p:txBody>
      </p:sp>
      <p:sp>
        <p:nvSpPr>
          <p:cNvPr id="972" name="Nota 3"/>
          <p:cNvSpPr/>
          <p:nvPr/>
        </p:nvSpPr>
        <p:spPr>
          <a:xfrm>
            <a:off x="12180756" y="2788920"/>
            <a:ext cx="5512881" cy="5596128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960" b="1">
                <a:solidFill>
                  <a:srgbClr val="FFFFFF"/>
                </a:solidFill>
                <a:latin typeface="Poppins"/>
              </a:rPr>
              <a:t>Harness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000" b="0">
                <a:solidFill>
                  <a:srgbClr val="DCC5FF"/>
                </a:solidFill>
                <a:latin typeface="Poppins"/>
              </a:rPr>
              <a:t>Qué límites le ponemos alrededor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000" b="0">
                <a:solidFill>
                  <a:srgbClr val="DCC5FF"/>
                </a:solidFill>
                <a:latin typeface="Poppins"/>
              </a:rPr>
              <a:t>Reintentos, timeouts, número de pasos y qué tools puede tocar. La traza te dice dónde se va en bucle y dónde hay que cortar.</a:t>
            </a:r>
          </a:p>
        </p:txBody>
      </p:sp>
      <p:sp>
        <p:nvSpPr>
          <p:cNvPr id="973" name="Pie"/>
          <p:cNvSpPr txBox="1"/>
          <p:nvPr/>
        </p:nvSpPr>
        <p:spPr>
          <a:xfrm>
            <a:off x="594360" y="8622792"/>
            <a:ext cx="17099280" cy="630936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770" b="0">
                <a:solidFill>
                  <a:srgbClr val="DCC5FF"/>
                </a:solidFill>
                <a:latin typeface="Consolas"/>
              </a:rPr>
              <a:t>Observar no es el final: es lo que convierte el ajuste del agente en una decisión de arquitectura.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1" grpId="0" animBg="1"/>
      <p:bldP spid="972" grpId="0" animBg="1"/>
      <p:bldP spid="97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77240" y="1170432"/>
            <a:ext cx="1371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FF4D9D"/>
                </a:solidFill>
                <a:latin typeface="Poppins"/>
              </a:rPr>
              <a:t>DEMO 4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77240" y="1481328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Poppins"/>
              </a:rPr>
              <a:t>Demo 4 · Aspire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594360" y="3255452"/>
            <a:ext cx="17099280" cy="5998275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222" name="TextBox 221"/>
          <p:cNvSpPr txBox="1"/>
          <p:nvPr/>
        </p:nvSpPr>
        <p:spPr>
          <a:xfrm>
            <a:off x="1295150" y="2788920"/>
            <a:ext cx="15697699" cy="3235181"/>
          </a:xfrm>
          <a:prstGeom prst="rect">
            <a:avLst/>
          </a:prstGeom>
          <a:noFill/>
        </p:spPr>
        <p:txBody>
          <a:bodyPr wrap="square" tIns="27432" bIns="27432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300" b="1">
                <a:solidFill>
                  <a:srgbClr val="FFFFFF"/>
                </a:solidFill>
                <a:latin typeface="Poppins"/>
              </a:rPr>
              <a:t>Recorrido que observamos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100" b="0">
                <a:solidFill>
                  <a:srgbClr val="FFFFFF"/>
                </a:solidFill>
                <a:latin typeface="Poppins"/>
              </a:rPr>
              <a:t>Petición, agent run, tool, handler, autorización e idempotencia, base de datos.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300" b="1">
                <a:solidFill>
                  <a:srgbClr val="FFFFFF"/>
                </a:solidFill>
                <a:latin typeface="Poppins"/>
              </a:rPr>
              <a:t>Qué permite reconstruir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100" b="0">
                <a:solidFill>
                  <a:srgbClr val="FFFFFF"/>
                </a:solidFill>
                <a:latin typeface="Poppins"/>
              </a:rPr>
              <a:t>Relacionar la intención con la operación ejecutada y su efecto bajo la misma traza.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77240" y="1170432"/>
            <a:ext cx="1673352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4D9D"/>
                </a:solidFill>
                <a:latin typeface="Poppins"/>
              </a:rPr>
              <a:t>SECCIÓN 05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77240" y="3017520"/>
            <a:ext cx="16733520" cy="29093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600"/>
              </a:spcAft>
            </a:pPr>
            <a:r>
              <a:rPr lang="es-ES" sz="6000" b="1">
                <a:solidFill>
                  <a:srgbClr val="D9D9D9"/>
                </a:solidFill>
                <a:latin typeface="Poppins"/>
              </a:rPr>
              <a:t>Conclusiones</a:t>
            </a:r>
            <a:endParaRPr sz="5400" b="1">
              <a:solidFill>
                <a:srgbClr val="D9D9D9"/>
              </a:solidFill>
              <a:latin typeface="Poppins"/>
            </a:endParaRPr>
          </a:p>
          <a:p>
            <a:pPr algn="l">
              <a:spcAft>
                <a:spcPts val="2600"/>
              </a:spcAft>
            </a:pPr>
            <a:endParaRPr sz="5400" b="1">
              <a:solidFill>
                <a:srgbClr val="D9D9D9"/>
              </a:solidFill>
              <a:latin typeface="Poppins"/>
            </a:endParaRPr>
          </a:p>
          <a:p>
            <a:pPr algn="l">
              <a:spcAft>
                <a:spcPts val="0"/>
              </a:spcAft>
            </a:pPr>
            <a:r>
              <a:rPr lang="es-ES" sz="3172" b="1">
                <a:solidFill>
                  <a:srgbClr val="FF4D9D"/>
                </a:solidFill>
                <a:latin typeface="Poppins"/>
              </a:rPr>
              <a:t>Lo que ha cambiado, las tres ideas y lo que dejamos fuera.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77240" y="1170432"/>
            <a:ext cx="1673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4D9D"/>
                </a:solidFill>
                <a:latin typeface="Poppins"/>
              </a:rPr>
              <a:t>CIERRE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77240" y="1481328"/>
            <a:ext cx="167335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s-ES" sz="4000" b="1">
                <a:solidFill>
                  <a:srgbClr val="FFFFFF"/>
                </a:solidFill>
                <a:latin typeface="Poppins"/>
              </a:rPr>
              <a:t>Tres ideas de la evolución</a:t>
            </a:r>
            <a:endParaRPr sz="4000" b="1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2" name="Rounded Rectangle 216"/>
          <p:cNvSpPr/>
          <p:nvPr/>
        </p:nvSpPr>
        <p:spPr>
          <a:xfrm>
            <a:off x="594360" y="8458200"/>
            <a:ext cx="17099280" cy="795528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770" b="1">
                <a:solidFill>
                  <a:srgbClr val="FF4D9D"/>
                </a:solidFill>
                <a:latin typeface="Poppins"/>
              </a:rPr>
              <a:t>Una misma aplicación puede atender a personas, clientes programados y agentes.</a:t>
            </a:r>
          </a:p>
        </p:txBody>
      </p:sp>
      <p:sp>
        <p:nvSpPr>
          <p:cNvPr id="970" name="Consolidated 970"/>
          <p:cNvSpPr/>
          <p:nvPr/>
        </p:nvSpPr>
        <p:spPr>
          <a:xfrm>
            <a:off x="594360" y="2788920"/>
            <a:ext cx="5512882" cy="5394960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660" b="1">
                <a:solidFill>
                  <a:srgbClr val="FFFFFF"/>
                </a:solidFill>
                <a:latin typeface="Poppins"/>
              </a:rPr>
              <a:t>Capacidades</a:t>
            </a:r>
            <a:br>
              <a:rPr lang="es-ES" sz="3660" b="1">
                <a:solidFill>
                  <a:srgbClr val="FFFFFF"/>
                </a:solidFill>
                <a:latin typeface="Poppins"/>
              </a:rPr>
            </a:br>
            <a:r>
              <a:rPr lang="es-ES" sz="3660" b="1">
                <a:solidFill>
                  <a:srgbClr val="FFFFFF"/>
                </a:solidFill>
                <a:latin typeface="Poppins"/>
              </a:rPr>
              <a:t>compartidas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170" b="0">
                <a:solidFill>
                  <a:srgbClr val="DCC5FF"/>
                </a:solidFill>
                <a:latin typeface="Poppins"/>
              </a:rPr>
              <a:t>Application evoluciona con casos de uso explícitos. REST y MCP los publican sin duplicar las reglas del dominio.</a:t>
            </a:r>
          </a:p>
        </p:txBody>
      </p:sp>
      <p:sp>
        <p:nvSpPr>
          <p:cNvPr id="971" name="Consolidated 971"/>
          <p:cNvSpPr/>
          <p:nvPr/>
        </p:nvSpPr>
        <p:spPr>
          <a:xfrm>
            <a:off x="6387558" y="2788920"/>
            <a:ext cx="5512882" cy="5394960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660" b="1">
                <a:solidFill>
                  <a:srgbClr val="FFFFFF"/>
                </a:solidFill>
                <a:latin typeface="Poppins"/>
              </a:rPr>
              <a:t>Contratos que</a:t>
            </a:r>
            <a:br>
              <a:rPr lang="es-ES" sz="3660" b="1">
                <a:solidFill>
                  <a:srgbClr val="FFFFFF"/>
                </a:solidFill>
                <a:latin typeface="Poppins"/>
              </a:rPr>
            </a:br>
            <a:r>
              <a:rPr lang="es-ES" sz="3660" b="1">
                <a:solidFill>
                  <a:srgbClr val="FFFFFF"/>
                </a:solidFill>
                <a:latin typeface="Poppins"/>
              </a:rPr>
              <a:t>permiten decidir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170" b="0">
                <a:solidFill>
                  <a:srgbClr val="DCC5FF"/>
                </a:solidFill>
                <a:latin typeface="Poppins"/>
              </a:rPr>
              <a:t>El consumidor necesita nombres, argumentos y errores claros, además de evidencia y condiciones para actuar.</a:t>
            </a:r>
          </a:p>
        </p:txBody>
      </p:sp>
      <p:sp>
        <p:nvSpPr>
          <p:cNvPr id="972" name="Consolidated 972"/>
          <p:cNvSpPr/>
          <p:nvPr/>
        </p:nvSpPr>
        <p:spPr>
          <a:xfrm>
            <a:off x="12180757" y="2788920"/>
            <a:ext cx="5512882" cy="5394960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312" tIns="274320" rIns="210312" bIns="274320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660" b="1">
                <a:solidFill>
                  <a:srgbClr val="FFFFFF"/>
                </a:solidFill>
                <a:latin typeface="Poppins"/>
              </a:rPr>
              <a:t>MCP como</a:t>
            </a:r>
            <a:br>
              <a:rPr lang="es-ES" sz="3660" b="1">
                <a:solidFill>
                  <a:srgbClr val="FFFFFF"/>
                </a:solidFill>
                <a:latin typeface="Poppins"/>
              </a:rPr>
            </a:br>
            <a:r>
              <a:rPr lang="es-ES" sz="3660" b="1">
                <a:solidFill>
                  <a:srgbClr val="FFFFFF"/>
                </a:solidFill>
                <a:latin typeface="Poppins"/>
              </a:rPr>
              <a:t>adaptador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3170" b="0">
                <a:solidFill>
                  <a:srgbClr val="DCC5FF"/>
                </a:solidFill>
                <a:latin typeface="Poppins"/>
              </a:rPr>
              <a:t>El protocolo publica capacidades que ya funcionan. No diseña el negocio ni sustituye los controles de la aplicación.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77240" y="1170432"/>
            <a:ext cx="1673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4D9D"/>
                </a:solidFill>
                <a:latin typeface="Poppins"/>
              </a:rPr>
              <a:t>FUERA DE ALCANCE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77240" y="1481328"/>
            <a:ext cx="167335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Poppins"/>
              </a:rPr>
              <a:t>Lo que no hemos visto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594360" y="2788920"/>
            <a:ext cx="3195602" cy="6464808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bIns="274320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470" b="1">
                <a:solidFill>
                  <a:srgbClr val="FF4D9D"/>
                </a:solidFill>
                <a:latin typeface="Poppins"/>
              </a:rPr>
              <a:t>SDK MCP:</a:t>
            </a:r>
            <a:br>
              <a:rPr lang="es-ES" sz="3000" b="1">
                <a:solidFill>
                  <a:srgbClr val="FF4D9D"/>
                </a:solidFill>
                <a:latin typeface="Poppins"/>
              </a:rPr>
            </a:br>
            <a:r>
              <a:rPr lang="es-ES" sz="2470" b="1">
                <a:solidFill>
                  <a:srgbClr val="FF4D9D"/>
                </a:solidFill>
                <a:latin typeface="Poppins"/>
              </a:rPr>
              <a:t>más opciones</a:t>
            </a:r>
            <a:endParaRPr lang="es-ES" sz="2200" b="1">
              <a:solidFill>
                <a:srgbClr val="FF4D9D"/>
              </a:solidFill>
              <a:latin typeface="Poppins"/>
            </a:endParaRP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740" b="0">
                <a:solidFill>
                  <a:srgbClr val="D9D9D9"/>
                </a:solidFill>
                <a:latin typeface="Consolas"/>
              </a:rPr>
              <a:t>Multi Round-Trip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740" b="0">
                <a:solidFill>
                  <a:srgbClr val="D9D9D9"/>
                </a:solidFill>
                <a:latin typeface="Consolas"/>
              </a:rPr>
              <a:t>Modo stateful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300" b="0">
                <a:solidFill>
                  <a:srgbClr val="D9D9D9"/>
                </a:solidFill>
                <a:latin typeface="Consolas"/>
              </a:rPr>
              <a:t>Compatibilidad de versiones</a:t>
            </a:r>
            <a:endParaRPr lang="es-ES" sz="1600" b="0">
              <a:solidFill>
                <a:srgbClr val="D9D9D9"/>
              </a:solidFill>
              <a:latin typeface="Consolas"/>
            </a:endParaRPr>
          </a:p>
        </p:txBody>
      </p:sp>
      <p:sp>
        <p:nvSpPr>
          <p:cNvPr id="218" name="Rounded Rectangle 217"/>
          <p:cNvSpPr/>
          <p:nvPr/>
        </p:nvSpPr>
        <p:spPr>
          <a:xfrm>
            <a:off x="4070278" y="2788920"/>
            <a:ext cx="3195602" cy="6464808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bIns="274320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000" b="1">
                <a:solidFill>
                  <a:srgbClr val="FF4D9D"/>
                </a:solidFill>
                <a:latin typeface="Poppins"/>
              </a:rPr>
              <a:t>Más MCP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740" b="0">
                <a:solidFill>
                  <a:srgbClr val="D9D9D9"/>
                </a:solidFill>
                <a:latin typeface="Consolas"/>
              </a:rPr>
              <a:t>Resources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740" b="0">
                <a:solidFill>
                  <a:srgbClr val="D9D9D9"/>
                </a:solidFill>
                <a:latin typeface="Consolas"/>
              </a:rPr>
              <a:t>Prompts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740" b="0">
                <a:solidFill>
                  <a:srgbClr val="D9D9D9"/>
                </a:solidFill>
                <a:latin typeface="Consolas"/>
              </a:rPr>
              <a:t>Sampling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740" b="0">
                <a:solidFill>
                  <a:srgbClr val="D9D9D9"/>
                </a:solidFill>
                <a:latin typeface="Consolas"/>
              </a:rPr>
              <a:t>MCP Apps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7546197" y="2788920"/>
            <a:ext cx="3195602" cy="6464808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bIns="274320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000" b="1">
                <a:solidFill>
                  <a:srgbClr val="FF4D9D"/>
                </a:solidFill>
                <a:latin typeface="Poppins"/>
              </a:rPr>
              <a:t>Agentes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740" b="0">
                <a:solidFill>
                  <a:srgbClr val="D9D9D9"/>
                </a:solidFill>
                <a:latin typeface="Consolas"/>
              </a:rPr>
              <a:t>Agent Framework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740" b="0">
                <a:solidFill>
                  <a:srgbClr val="D9D9D9"/>
                </a:solidFill>
                <a:latin typeface="Consolas"/>
              </a:rPr>
              <a:t>Workflows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740" b="0">
                <a:solidFill>
                  <a:srgbClr val="D9D9D9"/>
                </a:solidFill>
                <a:latin typeface="Consolas"/>
              </a:rPr>
              <a:t>Multi-agent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740" b="0">
                <a:solidFill>
                  <a:srgbClr val="D9D9D9"/>
                </a:solidFill>
                <a:latin typeface="Consolas"/>
              </a:rPr>
              <a:t>Memoria y sesiones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740" b="0">
                <a:solidFill>
                  <a:srgbClr val="D9D9D9"/>
                </a:solidFill>
                <a:latin typeface="Consolas"/>
              </a:rPr>
              <a:t>A2A · Evaluaciones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11022116" y="2788920"/>
            <a:ext cx="3195602" cy="6464808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bIns="274320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000" b="1">
                <a:solidFill>
                  <a:srgbClr val="FF4D9D"/>
                </a:solidFill>
                <a:latin typeface="Poppins"/>
              </a:rPr>
              <a:t>Producción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740" b="0">
                <a:solidFill>
                  <a:srgbClr val="D9D9D9"/>
                </a:solidFill>
                <a:latin typeface="Consolas"/>
              </a:rPr>
              <a:t>Microsoft Foundry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740" b="0">
                <a:solidFill>
                  <a:srgbClr val="D9D9D9"/>
                </a:solidFill>
                <a:latin typeface="Consolas"/>
              </a:rPr>
              <a:t>Azure Functions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740" b="0">
                <a:solidFill>
                  <a:srgbClr val="D9D9D9"/>
                </a:solidFill>
                <a:latin typeface="Consolas"/>
              </a:rPr>
              <a:t>Entra ID y OBO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740" b="0">
                <a:solidFill>
                  <a:srgbClr val="D9D9D9"/>
                </a:solidFill>
                <a:latin typeface="Consolas"/>
              </a:rPr>
              <a:t>API Management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740" b="0">
                <a:solidFill>
                  <a:srgbClr val="D9D9D9"/>
                </a:solidFill>
                <a:latin typeface="Consolas"/>
              </a:rPr>
              <a:t>VNET · Gobierno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14498035" y="2788920"/>
            <a:ext cx="3195602" cy="6464808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bIns="274320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000" b="1">
                <a:solidFill>
                  <a:srgbClr val="FF4D9D"/>
                </a:solidFill>
                <a:latin typeface="Poppins"/>
              </a:rPr>
              <a:t>Más Aspire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pt-BR" sz="2740" b="0">
                <a:solidFill>
                  <a:srgbClr val="D9D9D9"/>
                </a:solidFill>
                <a:latin typeface="Consolas"/>
              </a:rPr>
              <a:t>GenAI Visualizer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pt-BR" sz="2740" b="0">
                <a:solidFill>
                  <a:srgbClr val="D9D9D9"/>
                </a:solidFill>
                <a:latin typeface="Consolas"/>
              </a:rPr>
              <a:t>Aspire MCP Server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pt-BR" sz="2740" b="0">
                <a:solidFill>
                  <a:srgbClr val="D9D9D9"/>
                </a:solidFill>
                <a:latin typeface="Consolas"/>
              </a:rPr>
              <a:t>Despliegue distribuido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77240" y="1170432"/>
            <a:ext cx="1673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4D9D"/>
                </a:solidFill>
                <a:latin typeface="Poppins"/>
              </a:rPr>
              <a:t>REFERENCIAS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77240" y="1481328"/>
            <a:ext cx="167335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s-ES" sz="3600" b="1">
                <a:solidFill>
                  <a:srgbClr val="FFFFFF"/>
                </a:solidFill>
                <a:latin typeface="Poppins"/>
              </a:rPr>
              <a:t>Tecnologías y documentación</a:t>
            </a:r>
            <a:endParaRPr sz="3600" b="1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217" name="Rounded Rectangle 216"/>
          <p:cNvSpPr/>
          <p:nvPr/>
        </p:nvSpPr>
        <p:spPr>
          <a:xfrm>
            <a:off x="594360" y="2788920"/>
            <a:ext cx="3195602" cy="6464808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bIns="274320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000" b="1">
                <a:solidFill>
                  <a:srgbClr val="FF4D9D"/>
                </a:solidFill>
                <a:latin typeface="Poppins"/>
              </a:rPr>
              <a:t>SDK MCP</a:t>
            </a:r>
            <a:br>
              <a:rPr lang="es-ES" sz="3000" b="1">
                <a:solidFill>
                  <a:srgbClr val="FF4D9D"/>
                </a:solidFill>
                <a:latin typeface="Poppins"/>
              </a:rPr>
            </a:br>
            <a:r>
              <a:rPr lang="es-ES" sz="3000" b="1">
                <a:solidFill>
                  <a:srgbClr val="FF4D9D"/>
                </a:solidFill>
                <a:latin typeface="Poppins"/>
              </a:rPr>
              <a:t>C# 2.0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570" b="1" u="sng">
                <a:solidFill>
                  <a:srgbClr val="E1CFFF"/>
                </a:solidFill>
                <a:latin typeface="Consolas"/>
                <a:hlinkClick r:id="rId7"/>
              </a:rPr>
              <a:t>Tools, transporte HTTP y anotaciones.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740" b="0" u="none">
                <a:solidFill>
                  <a:srgbClr val="E1CFFF"/>
                </a:solidFill>
                <a:latin typeface="Consolas"/>
                <a:hlinkClick r:id="rId7"/>
              </a:rPr>
              <a:t>Anuncio del SDK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370" b="0" u="none">
                <a:solidFill>
                  <a:srgbClr val="E1CFFF"/>
                </a:solidFill>
                <a:latin typeface="Consolas"/>
                <a:hlinkClick r:id="rId7"/>
              </a:rPr>
              <a:t>devblogs.</a:t>
            </a:r>
            <a:br>
              <a:rPr lang="es-ES" sz="2740" b="0" u="none">
                <a:solidFill>
                  <a:srgbClr val="E1CFFF"/>
                </a:solidFill>
                <a:latin typeface="Consolas"/>
                <a:hlinkClick r:id="rId7"/>
              </a:rPr>
            </a:br>
            <a:r>
              <a:rPr lang="es-ES" sz="2370" b="0" u="none">
                <a:solidFill>
                  <a:srgbClr val="E1CFFF"/>
                </a:solidFill>
                <a:latin typeface="Consolas"/>
                <a:hlinkClick r:id="rId7"/>
              </a:rPr>
              <a:t>microsoft.com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4070278" y="2788920"/>
            <a:ext cx="3195602" cy="6464808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bIns="274320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000" b="1">
                <a:solidFill>
                  <a:srgbClr val="FF4D9D"/>
                </a:solidFill>
                <a:latin typeface="Poppins"/>
              </a:rPr>
              <a:t>MCP</a:t>
            </a:r>
            <a:br>
              <a:rPr lang="es-ES" sz="3000" b="1">
                <a:solidFill>
                  <a:srgbClr val="FF4D9D"/>
                </a:solidFill>
                <a:latin typeface="Poppins"/>
              </a:rPr>
            </a:br>
            <a:r>
              <a:rPr lang="es-ES" sz="3000" b="1">
                <a:solidFill>
                  <a:srgbClr val="FF4D9D"/>
                </a:solidFill>
                <a:latin typeface="Poppins"/>
              </a:rPr>
              <a:t>con .NET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060" b="1" u="sng">
                <a:solidFill>
                  <a:srgbClr val="E1CFFF"/>
                </a:solidFill>
                <a:latin typeface="Consolas"/>
                <a:hlinkClick r:id="rId8"/>
              </a:rPr>
              <a:t>Cliente, servidor y descubrimiento.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740" b="0" u="none">
                <a:solidFill>
                  <a:srgbClr val="E1CFFF"/>
                </a:solidFill>
                <a:latin typeface="Consolas"/>
                <a:hlinkClick r:id="rId8"/>
              </a:rPr>
              <a:t>Guía de inicio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370" b="0" u="none">
                <a:solidFill>
                  <a:srgbClr val="E1CFFF"/>
                </a:solidFill>
                <a:latin typeface="Consolas"/>
                <a:hlinkClick r:id="rId8"/>
              </a:rPr>
              <a:t>learn.</a:t>
            </a:r>
            <a:br>
              <a:rPr lang="es-ES" sz="2740" b="0" u="none">
                <a:solidFill>
                  <a:srgbClr val="E1CFFF"/>
                </a:solidFill>
                <a:latin typeface="Consolas"/>
                <a:hlinkClick r:id="rId8"/>
              </a:rPr>
            </a:br>
            <a:r>
              <a:rPr lang="es-ES" sz="2370" b="0" u="none">
                <a:solidFill>
                  <a:srgbClr val="E1CFFF"/>
                </a:solidFill>
                <a:latin typeface="Consolas"/>
                <a:hlinkClick r:id="rId8"/>
              </a:rPr>
              <a:t>microsoft.com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7546197" y="2788920"/>
            <a:ext cx="3195602" cy="6464808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bIns="274320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000" b="1">
                <a:solidFill>
                  <a:srgbClr val="FF4D9D"/>
                </a:solidFill>
                <a:latin typeface="Poppins"/>
              </a:rPr>
              <a:t>ASP.NET</a:t>
            </a:r>
            <a:br>
              <a:rPr lang="es-ES" sz="3000" b="1">
                <a:solidFill>
                  <a:srgbClr val="FF4D9D"/>
                </a:solidFill>
                <a:latin typeface="Poppins"/>
              </a:rPr>
            </a:br>
            <a:r>
              <a:rPr lang="es-ES" sz="3000" b="1">
                <a:solidFill>
                  <a:srgbClr val="FF4D9D"/>
                </a:solidFill>
                <a:latin typeface="Poppins"/>
              </a:rPr>
              <a:t>Core 10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060" b="1" u="sng">
                <a:solidFill>
                  <a:srgbClr val="E1CFFF"/>
                </a:solidFill>
                <a:latin typeface="Consolas"/>
                <a:hlinkClick r:id="rId9"/>
              </a:rPr>
              <a:t>OpenAPI, validación y ProblemDetails.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740" b="0" u="none">
                <a:solidFill>
                  <a:srgbClr val="E1CFFF"/>
                </a:solidFill>
                <a:latin typeface="Consolas"/>
                <a:hlinkClick r:id="rId9"/>
              </a:rPr>
              <a:t>Novedades de la versión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370" b="0" u="none">
                <a:solidFill>
                  <a:srgbClr val="E1CFFF"/>
                </a:solidFill>
                <a:latin typeface="Consolas"/>
                <a:hlinkClick r:id="rId9"/>
              </a:rPr>
              <a:t>learn.</a:t>
            </a:r>
            <a:br>
              <a:rPr lang="es-ES" sz="2740" b="0" u="none">
                <a:solidFill>
                  <a:srgbClr val="E1CFFF"/>
                </a:solidFill>
                <a:latin typeface="Consolas"/>
                <a:hlinkClick r:id="rId9"/>
              </a:rPr>
            </a:br>
            <a:r>
              <a:rPr lang="es-ES" sz="2370" b="0" u="none">
                <a:solidFill>
                  <a:srgbClr val="E1CFFF"/>
                </a:solidFill>
                <a:latin typeface="Consolas"/>
                <a:hlinkClick r:id="rId9"/>
              </a:rPr>
              <a:t>microsoft.com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11022116" y="2788920"/>
            <a:ext cx="3195602" cy="6464808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bIns="274320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2100" b="1">
                <a:solidFill>
                  <a:srgbClr val="FF4D9D"/>
                </a:solidFill>
                <a:latin typeface="Poppins"/>
              </a:rPr>
              <a:t>IA en .NET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1920" b="1" u="sng">
                <a:solidFill>
                  <a:srgbClr val="E1CFFF"/>
                </a:solidFill>
                <a:latin typeface="Consolas"/>
                <a:hlinkClick r:id="rId10"/>
              </a:rPr>
              <a:t>Microsoft.</a:t>
            </a:r>
            <a:br>
              <a:rPr lang="es-ES" sz="1920" b="1" u="sng">
                <a:solidFill>
                  <a:srgbClr val="E1CFFF"/>
                </a:solidFill>
                <a:latin typeface="Consolas"/>
                <a:hlinkClick r:id="rId10"/>
              </a:rPr>
            </a:br>
            <a:r>
              <a:rPr lang="es-ES" sz="1920" b="1" u="sng">
                <a:solidFill>
                  <a:srgbClr val="E1CFFF"/>
                </a:solidFill>
                <a:latin typeface="Consolas"/>
                <a:hlinkClick r:id="rId10"/>
              </a:rPr>
              <a:t>Extensions.AI para la demo. Agent Framework queda fuera.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1920" b="0" u="none">
                <a:solidFill>
                  <a:srgbClr val="E1CFFF"/>
                </a:solidFill>
                <a:latin typeface="Consolas"/>
                <a:hlinkClick r:id="rId10"/>
              </a:rPr>
              <a:t>Ecosistema y self-hosting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1920" b="0" u="none">
                <a:solidFill>
                  <a:srgbClr val="E1CFFF"/>
                </a:solidFill>
                <a:latin typeface="Consolas"/>
                <a:hlinkClick r:id="rId10"/>
              </a:rPr>
              <a:t>learn.</a:t>
            </a:r>
            <a:br>
              <a:rPr lang="es-ES" sz="1920" b="0" u="none">
                <a:solidFill>
                  <a:srgbClr val="E1CFFF"/>
                </a:solidFill>
                <a:latin typeface="Consolas"/>
                <a:hlinkClick r:id="rId10"/>
              </a:rPr>
            </a:br>
            <a:r>
              <a:rPr lang="es-ES" sz="1920" b="0" u="none">
                <a:solidFill>
                  <a:srgbClr val="E1CFFF"/>
                </a:solidFill>
                <a:latin typeface="Consolas"/>
                <a:hlinkClick r:id="rId10"/>
              </a:rPr>
              <a:t>microsoft.com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14498035" y="2788920"/>
            <a:ext cx="3195602" cy="6464808"/>
          </a:xfrm>
          <a:prstGeom prst="roundRect">
            <a:avLst/>
          </a:prstGeom>
          <a:solidFill>
            <a:srgbClr val="1A0E3E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bIns="274320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3000" b="1">
                <a:solidFill>
                  <a:srgbClr val="FF4D9D"/>
                </a:solidFill>
                <a:latin typeface="Poppins"/>
              </a:rPr>
              <a:t>Aspire</a:t>
            </a:r>
            <a:br>
              <a:rPr lang="es-ES" sz="3000" b="1">
                <a:solidFill>
                  <a:srgbClr val="FF4D9D"/>
                </a:solidFill>
                <a:latin typeface="Poppins"/>
              </a:rPr>
            </a:br>
            <a:r>
              <a:rPr lang="es-ES" sz="3000" b="1">
                <a:solidFill>
                  <a:srgbClr val="FF4D9D"/>
                </a:solidFill>
                <a:latin typeface="Poppins"/>
              </a:rPr>
              <a:t>y Azure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740" b="1" u="sng">
                <a:solidFill>
                  <a:srgbClr val="E1CFFF"/>
                </a:solidFill>
                <a:latin typeface="Consolas"/>
                <a:hlinkClick r:id="rId11"/>
              </a:rPr>
              <a:t>AppHost, logs y trazas.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740" b="0" u="none">
                <a:solidFill>
                  <a:srgbClr val="E1CFFF"/>
                </a:solidFill>
                <a:latin typeface="Consolas"/>
                <a:hlinkClick r:id="rId11"/>
              </a:rPr>
              <a:t>Aspire 13.1: aspire.dev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740" b="1" u="sng">
                <a:solidFill>
                  <a:srgbClr val="E1CFFF"/>
                </a:solidFill>
                <a:latin typeface="Consolas"/>
                <a:hlinkClick r:id="rId12"/>
              </a:rPr>
              <a:t>MCP remoto con Functions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lang="es-ES" sz="2370" b="0" u="none">
                <a:solidFill>
                  <a:srgbClr val="E1CFFF"/>
                </a:solidFill>
                <a:latin typeface="Consolas"/>
                <a:hlinkClick r:id="rId12"/>
              </a:rPr>
              <a:t>github.com/</a:t>
            </a:r>
            <a:br>
              <a:rPr lang="es-ES" sz="2740" b="0" u="none">
                <a:solidFill>
                  <a:srgbClr val="E1CFFF"/>
                </a:solidFill>
                <a:latin typeface="Consolas"/>
                <a:hlinkClick r:id="rId12"/>
              </a:rPr>
            </a:br>
            <a:r>
              <a:rPr lang="es-ES" sz="2370" b="0" u="none">
                <a:solidFill>
                  <a:srgbClr val="E1CFFF"/>
                </a:solidFill>
                <a:latin typeface="Consolas"/>
                <a:hlinkClick r:id="rId12"/>
              </a:rPr>
              <a:t>Azure-Samples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77240" y="1170432"/>
            <a:ext cx="1673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4D9D"/>
                </a:solidFill>
                <a:latin typeface="Poppins"/>
              </a:rPr>
              <a:t>MENSAJE FINAL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77240" y="3017520"/>
            <a:ext cx="16733520" cy="22529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600"/>
              </a:spcAft>
            </a:pPr>
            <a:r>
              <a:rPr lang="es-ES" sz="4880" b="1">
                <a:solidFill>
                  <a:srgbClr val="D9D9D9"/>
                </a:solidFill>
                <a:latin typeface="Poppins"/>
              </a:rPr>
              <a:t>Diseñamos software para un mundo donde una misma capacidad puede servir a una persona, una aplicación o un agente.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777240" y="1481328"/>
            <a:ext cx="167335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Poppins"/>
              </a:rPr>
              <a:t>¿Preguntas?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5680175" y="2468879"/>
            <a:ext cx="8736517" cy="1975477"/>
          </a:xfrm>
          <a:prstGeom prst="rect">
            <a:avLst/>
          </a:prstGeom>
          <a:noFill/>
        </p:spPr>
        <p:txBody>
          <a:bodyPr wrap="square" lIns="0" tIns="27432" rIns="0" bIns="27432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s-ES" sz="4000" b="1" dirty="0">
                <a:solidFill>
                  <a:srgbClr val="FF4D9D"/>
                </a:solidFill>
                <a:latin typeface="Poppins"/>
              </a:rPr>
              <a:t>Sergio Hierro (</a:t>
            </a:r>
            <a:r>
              <a:rPr lang="es-ES" sz="4000" b="1" dirty="0" err="1">
                <a:solidFill>
                  <a:srgbClr val="FF4D9D"/>
                </a:solidFill>
                <a:latin typeface="Poppins"/>
              </a:rPr>
              <a:t>Sertxito</a:t>
            </a:r>
            <a:r>
              <a:rPr lang="es-ES" sz="4000" b="1" dirty="0">
                <a:solidFill>
                  <a:srgbClr val="FF4D9D"/>
                </a:solidFill>
                <a:latin typeface="Poppins"/>
              </a:rPr>
              <a:t>)</a:t>
            </a:r>
          </a:p>
        </p:txBody>
      </p:sp>
      <p:pic>
        <p:nvPicPr>
          <p:cNvPr id="220" name="QR GitHub Sertxito" descr="github-q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5783" y="3498000"/>
            <a:ext cx="5936605" cy="593660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 rot="-9507860">
            <a:off x="8420533" y="-4243551"/>
            <a:ext cx="10764274" cy="10544503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-3925495" y="5622260"/>
            <a:ext cx="10031001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 rot="4413099" flipH="1">
            <a:off x="10760248" y="1572496"/>
            <a:ext cx="11741660" cy="8761288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/>
          <p:nvPr/>
        </p:nvSpPr>
        <p:spPr>
          <a:xfrm flipH="1">
            <a:off x="0" y="-400219"/>
            <a:ext cx="9326019" cy="7037809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" name="Google Shape;102;p2"/>
          <p:cNvCxnSpPr/>
          <p:nvPr/>
        </p:nvCxnSpPr>
        <p:spPr>
          <a:xfrm>
            <a:off x="700612" y="1472360"/>
            <a:ext cx="12385528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3" name="Google Shape;103;p2"/>
          <p:cNvGrpSpPr/>
          <p:nvPr/>
        </p:nvGrpSpPr>
        <p:grpSpPr>
          <a:xfrm>
            <a:off x="12986370" y="762000"/>
            <a:ext cx="4601018" cy="1420720"/>
            <a:chOff x="0" y="0"/>
            <a:chExt cx="6134691" cy="1894293"/>
          </a:xfrm>
        </p:grpSpPr>
        <p:sp>
          <p:nvSpPr>
            <p:cNvPr id="104" name="Google Shape;104;p2"/>
            <p:cNvSpPr/>
            <p:nvPr/>
          </p:nvSpPr>
          <p:spPr>
            <a:xfrm>
              <a:off x="4489064" y="0"/>
              <a:ext cx="1645627" cy="1894293"/>
            </a:xfrm>
            <a:custGeom>
              <a:avLst/>
              <a:gdLst/>
              <a:ahLst/>
              <a:cxnLst/>
              <a:rect l="l" t="t" r="r" b="b"/>
              <a:pathLst>
                <a:path w="1645627" h="1894293" extrusionOk="0">
                  <a:moveTo>
                    <a:pt x="0" y="0"/>
                  </a:moveTo>
                  <a:lnTo>
                    <a:pt x="1645627" y="0"/>
                  </a:lnTo>
                  <a:lnTo>
                    <a:pt x="1645627" y="1894293"/>
                  </a:lnTo>
                  <a:lnTo>
                    <a:pt x="0" y="189429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l="-720" r="-720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240525" y="588852"/>
              <a:ext cx="3971218" cy="6529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400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53"/>
                <a:buFont typeface="Arial"/>
                <a:buNone/>
                <a:tabLst/>
                <a:defRPr/>
              </a:pPr>
              <a:r>
                <a:rPr kumimoji="0" lang="en-US" sz="2853" b="1" i="0" u="none" strike="noStrike" kern="0" cap="none" spc="0" normalizeH="0" baseline="0" noProof="0">
                  <a:ln>
                    <a:noFill/>
                  </a:ln>
                  <a:solidFill>
                    <a:srgbClr val="D9D9D9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&lt;NetCoreConf/&gt;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0" y="1364955"/>
              <a:ext cx="3971100" cy="47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33"/>
                <a:buFont typeface="Arial"/>
                <a:buNone/>
                <a:tabLst/>
                <a:defRPr/>
              </a:pPr>
              <a:r>
                <a:rPr kumimoji="0" lang="en-US" sz="2333" b="0" i="0" u="none" strike="noStrike" kern="0" cap="none" spc="0" normalizeH="0" baseline="0" noProof="0">
                  <a:ln>
                    <a:noFill/>
                  </a:ln>
                  <a:solidFill>
                    <a:srgbClr val="D9D9D9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Madrid ‘26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" name="Google Shape;107;p2"/>
          <p:cNvSpPr txBox="1"/>
          <p:nvPr/>
        </p:nvSpPr>
        <p:spPr>
          <a:xfrm>
            <a:off x="759956" y="817946"/>
            <a:ext cx="2926313" cy="550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9"/>
              <a:buFont typeface="Arial"/>
              <a:buNone/>
              <a:tabLst/>
              <a:defRPr/>
            </a:pPr>
            <a:r>
              <a:rPr kumimoji="0" lang="en-US" sz="3059" b="0" i="0" u="none" strike="noStrike" kern="0" cap="none" spc="0" normalizeH="0" baseline="0" noProof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Sponsors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" name="Google Shape;108;p2"/>
          <p:cNvCxnSpPr/>
          <p:nvPr/>
        </p:nvCxnSpPr>
        <p:spPr>
          <a:xfrm rot="10800000" flipH="1">
            <a:off x="700612" y="2913366"/>
            <a:ext cx="16705493" cy="57842"/>
          </a:xfrm>
          <a:prstGeom prst="straightConnector1">
            <a:avLst/>
          </a:prstGeom>
          <a:noFill/>
          <a:ln w="19050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9" name="Google Shape;109;p2"/>
          <p:cNvSpPr/>
          <p:nvPr/>
        </p:nvSpPr>
        <p:spPr>
          <a:xfrm>
            <a:off x="6330506" y="2793173"/>
            <a:ext cx="5187834" cy="2511131"/>
          </a:xfrm>
          <a:custGeom>
            <a:avLst/>
            <a:gdLst/>
            <a:ahLst/>
            <a:cxnLst/>
            <a:rect l="l" t="t" r="r" b="b"/>
            <a:pathLst>
              <a:path w="2006899" h="971424" extrusionOk="0">
                <a:moveTo>
                  <a:pt x="0" y="0"/>
                </a:moveTo>
                <a:lnTo>
                  <a:pt x="2006899" y="0"/>
                </a:lnTo>
                <a:lnTo>
                  <a:pt x="2006899" y="971425"/>
                </a:lnTo>
                <a:lnTo>
                  <a:pt x="0" y="971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l="-8131" t="-34334" r="-9321" b="-3663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1714375" y="6351574"/>
            <a:ext cx="5897282" cy="664785"/>
          </a:xfrm>
          <a:custGeom>
            <a:avLst/>
            <a:gdLst/>
            <a:ahLst/>
            <a:cxnLst/>
            <a:rect l="l" t="t" r="r" b="b"/>
            <a:pathLst>
              <a:path w="1983947" h="223645" extrusionOk="0">
                <a:moveTo>
                  <a:pt x="0" y="0"/>
                </a:moveTo>
                <a:lnTo>
                  <a:pt x="1983947" y="0"/>
                </a:lnTo>
                <a:lnTo>
                  <a:pt x="1983947" y="223645"/>
                </a:lnTo>
                <a:lnTo>
                  <a:pt x="0" y="2236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1765427" y="8980626"/>
            <a:ext cx="2111533" cy="629121"/>
          </a:xfrm>
          <a:custGeom>
            <a:avLst/>
            <a:gdLst/>
            <a:ahLst/>
            <a:cxnLst/>
            <a:rect l="l" t="t" r="r" b="b"/>
            <a:pathLst>
              <a:path w="1147110" h="341776" extrusionOk="0">
                <a:moveTo>
                  <a:pt x="0" y="0"/>
                </a:moveTo>
                <a:lnTo>
                  <a:pt x="1147110" y="0"/>
                </a:lnTo>
                <a:lnTo>
                  <a:pt x="1147110" y="341776"/>
                </a:lnTo>
                <a:lnTo>
                  <a:pt x="0" y="3417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" name="Google Shape;112;p2"/>
          <p:cNvCxnSpPr/>
          <p:nvPr/>
        </p:nvCxnSpPr>
        <p:spPr>
          <a:xfrm>
            <a:off x="700612" y="8579914"/>
            <a:ext cx="16705493" cy="28596"/>
          </a:xfrm>
          <a:prstGeom prst="straightConnector1">
            <a:avLst/>
          </a:prstGeom>
          <a:noFill/>
          <a:ln w="19050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3" name="Google Shape;113;p2"/>
          <p:cNvSpPr/>
          <p:nvPr/>
        </p:nvSpPr>
        <p:spPr>
          <a:xfrm>
            <a:off x="13424262" y="8952019"/>
            <a:ext cx="3590104" cy="657728"/>
          </a:xfrm>
          <a:custGeom>
            <a:avLst/>
            <a:gdLst/>
            <a:ahLst/>
            <a:cxnLst/>
            <a:rect l="l" t="t" r="r" b="b"/>
            <a:pathLst>
              <a:path w="1950357" h="357317" extrusionOk="0">
                <a:moveTo>
                  <a:pt x="0" y="0"/>
                </a:moveTo>
                <a:lnTo>
                  <a:pt x="1950357" y="0"/>
                </a:lnTo>
                <a:lnTo>
                  <a:pt x="1950357" y="357317"/>
                </a:lnTo>
                <a:lnTo>
                  <a:pt x="0" y="3573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11413379" y="3456618"/>
            <a:ext cx="7102491" cy="1769705"/>
          </a:xfrm>
          <a:custGeom>
            <a:avLst/>
            <a:gdLst/>
            <a:ahLst/>
            <a:cxnLst/>
            <a:rect l="l" t="t" r="r" b="b"/>
            <a:pathLst>
              <a:path w="2582724" h="643529" extrusionOk="0">
                <a:moveTo>
                  <a:pt x="0" y="0"/>
                </a:moveTo>
                <a:lnTo>
                  <a:pt x="2582724" y="0"/>
                </a:lnTo>
                <a:lnTo>
                  <a:pt x="2582724" y="643529"/>
                </a:lnTo>
                <a:lnTo>
                  <a:pt x="0" y="6435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881912" y="3428990"/>
            <a:ext cx="5141475" cy="1466124"/>
          </a:xfrm>
          <a:custGeom>
            <a:avLst/>
            <a:gdLst/>
            <a:ahLst/>
            <a:cxnLst/>
            <a:rect l="l" t="t" r="r" b="b"/>
            <a:pathLst>
              <a:path w="1988965" h="567166" extrusionOk="0">
                <a:moveTo>
                  <a:pt x="0" y="0"/>
                </a:moveTo>
                <a:lnTo>
                  <a:pt x="1988965" y="0"/>
                </a:lnTo>
                <a:lnTo>
                  <a:pt x="1988965" y="567166"/>
                </a:lnTo>
                <a:lnTo>
                  <a:pt x="0" y="5671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881895" y="2315439"/>
            <a:ext cx="6449608" cy="68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Platinum sponsors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881895" y="7915477"/>
            <a:ext cx="6449608" cy="68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Gold sponsors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10009993" y="7915477"/>
            <a:ext cx="64497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Colabora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rgbClr val="D9D9D9"/>
              </a:solidFill>
              <a:effectLst/>
              <a:uLnTx/>
              <a:uFillTx/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4264196" y="8063619"/>
            <a:ext cx="2463133" cy="2463133"/>
          </a:xfrm>
          <a:custGeom>
            <a:avLst/>
            <a:gdLst/>
            <a:ahLst/>
            <a:cxnLst/>
            <a:rect l="l" t="t" r="r" b="b"/>
            <a:pathLst>
              <a:path w="1404793" h="1404793" extrusionOk="0">
                <a:moveTo>
                  <a:pt x="0" y="0"/>
                </a:moveTo>
                <a:lnTo>
                  <a:pt x="1404793" y="0"/>
                </a:lnTo>
                <a:lnTo>
                  <a:pt x="1404793" y="1404793"/>
                </a:lnTo>
                <a:lnTo>
                  <a:pt x="0" y="14047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2" title="v-valley-blanco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0567715" y="5830225"/>
            <a:ext cx="6838385" cy="155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" title="scrm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727329" y="8802387"/>
            <a:ext cx="3067771" cy="95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-9507860">
            <a:off x="8897112" y="-4242816"/>
            <a:ext cx="10762488" cy="1054303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670048" y="4379976"/>
            <a:ext cx="10030968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 rot="4413099" flipH="1">
            <a:off x="10762488" y="1572768"/>
            <a:ext cx="11740896" cy="8759952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 flipH="1">
            <a:off x="0" y="-402336"/>
            <a:ext cx="9326880" cy="7040880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8"/>
          <p:cNvCxnSpPr/>
          <p:nvPr/>
        </p:nvCxnSpPr>
        <p:spPr>
          <a:xfrm>
            <a:off x="777240" y="1033271"/>
            <a:ext cx="1388059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8"/>
          <p:cNvSpPr/>
          <p:nvPr/>
        </p:nvSpPr>
        <p:spPr>
          <a:xfrm>
            <a:off x="16815816" y="621792"/>
            <a:ext cx="713232" cy="813816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8"/>
          <p:cNvCxnSpPr/>
          <p:nvPr/>
        </p:nvCxnSpPr>
        <p:spPr>
          <a:xfrm>
            <a:off x="777240" y="9710928"/>
            <a:ext cx="16742663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8"/>
          <p:cNvSpPr txBox="1"/>
          <p:nvPr/>
        </p:nvSpPr>
        <p:spPr>
          <a:xfrm>
            <a:off x="14977872" y="8595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14877288" y="11978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77240" y="4206240"/>
            <a:ext cx="167335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FFFFFF"/>
                </a:solidFill>
                <a:latin typeface="Poppins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E1CFFF"/>
      </a:hlink>
      <a:folHlink>
        <a:srgbClr val="E1C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E1CFFF"/>
      </a:hlink>
      <a:folHlink>
        <a:srgbClr val="E1C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5029</TotalTime>
  <Words>3345</Words>
  <Application>Microsoft Office PowerPoint</Application>
  <PresentationFormat>Personalizado</PresentationFormat>
  <Paragraphs>557</Paragraphs>
  <Slides>44</Slides>
  <Notes>44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44</vt:i4>
      </vt:variant>
    </vt:vector>
  </HeadingPairs>
  <TitlesOfParts>
    <vt:vector size="51" baseType="lpstr">
      <vt:lpstr>Consolas</vt:lpstr>
      <vt:lpstr>Poppins</vt:lpstr>
      <vt:lpstr>Arial</vt:lpstr>
      <vt:lpstr>Play</vt:lpstr>
      <vt:lpstr>Open Sans</vt:lpstr>
      <vt:lpstr>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Sergio Hierro Cinos</cp:lastModifiedBy>
  <cp:revision>7</cp:revision>
  <dcterms:modified xsi:type="dcterms:W3CDTF">2026-10-23T21:49:27Z</dcterms:modified>
</cp:coreProperties>
</file>